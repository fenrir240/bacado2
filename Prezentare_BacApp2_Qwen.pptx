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PROIECTUL BACAPP2-QWEN</a:t>
            </a:r>
          </a:p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Platformă Inteligentă de Pregătire pentru Bacalaureat</a:t>
            </a:r>
          </a:p>
          <a:p>
            <a:pPr>
              <a:spcBef>
                <a:spcPts val="1000"/>
              </a:spcBef>
              <a:spcAft>
                <a:spcPts val="28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Knowledge Graphs, Modele Lingvistice Mari (LLM - Qwen), RAG &amp; Evaluare Științifică Riguroasă</a:t>
            </a:r>
          </a:p>
          <a:p>
            <a:pPr>
              <a:defRPr sz="1300">
                <a:solidFill>
                  <a:srgbClr val="F59E0B"/>
                </a:solidFill>
                <a:latin typeface="Segoe UI"/>
              </a:defRPr>
            </a:pPr>
            <a:r>
              <a:t>• Scopul Proiectului  |  • Arhitectura &amp; Tehnologii  |  • Metodologia de Cercetare &amp; Evaluare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Segoe UI"/>
              </a:defRPr>
            </a:pPr>
            <a:r>
              <a:t>PROBLEMATICA ȘI NEVOIA DE INOVAȚIE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Contextul Educațional și Provocările Învățării Tradiționale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28416" cy="1097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7977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F172A"/>
                </a:solidFill>
              </a:defRPr>
            </a:pPr>
            <a:r>
              <a:t>1. Memorarea Mecanică Tradițională</a:t>
            </a:r>
          </a:p>
          <a:p>
            <a:pPr>
              <a:defRPr sz="1350">
                <a:solidFill>
                  <a:srgbClr val="64748B"/>
                </a:solidFill>
              </a:defRPr>
            </a:pPr>
            <a:r>
              <a:t>Elevii de liceu apelează frecvent la memorarea pe de rost a unor comentarii literare rigide, fără o înțelegere de profunzime a structurii operei, a relațiilor cauzale dintre evenimente sau a evoluției personajelor.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645920"/>
            <a:ext cx="3328416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16552" y="1645920"/>
            <a:ext cx="3328416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2011680"/>
            <a:ext cx="277977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F172A"/>
                </a:solidFill>
              </a:defRPr>
            </a:pPr>
            <a:r>
              <a:t>2. Halucinațiile LLM-urilor Generice</a:t>
            </a:r>
          </a:p>
          <a:p>
            <a:pPr>
              <a:defRPr sz="1350">
                <a:solidFill>
                  <a:srgbClr val="64748B"/>
                </a:solidFill>
              </a:defRPr>
            </a:pPr>
            <a:r>
              <a:t>Modelele AI clasice (fără ancorare strictă în text) inventează scene, atribuie replici greșite și generează anacronisme literare, fiind nefiabile pentru pregătirea unui examen național strict cum este Bacalaureatul.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645920"/>
            <a:ext cx="3328416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01584" y="1645920"/>
            <a:ext cx="3328416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2011680"/>
            <a:ext cx="277977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F172A"/>
                </a:solidFill>
              </a:defRPr>
            </a:pPr>
            <a:r>
              <a:t>3. Lipsa de Personalizare și Interactivitate</a:t>
            </a:r>
          </a:p>
          <a:p>
            <a:pPr>
              <a:defRPr sz="1350">
                <a:solidFill>
                  <a:srgbClr val="64748B"/>
                </a:solidFill>
              </a:defRPr>
            </a:pPr>
            <a:r>
              <a:t>Manuale și culegerile tipărite oferă un conținut static, fără feedback imediat, fără exerciții adaptate pe tipologii cognitive (cronologie, cauză-efect, asocieri) și fără asistență ghidată în redactarea eseurilor.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Segoe UI"/>
              </a:defRPr>
            </a:pPr>
            <a:r>
              <a:t>VIZIUNE &amp; OBIECTIVE STRATEGICE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Scopul Proiectului BacApp2-Qwen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3840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6B6D4"/>
                </a:solidFill>
              </a:defRPr>
            </a:pPr>
            <a:r>
              <a:t>Viziunea Centrală</a:t>
            </a:r>
          </a:p>
          <a:p>
            <a:pPr>
              <a:spcAft>
                <a:spcPts val="1600"/>
              </a:spcAft>
              <a:defRPr sz="1400">
                <a:solidFill>
                  <a:srgbClr val="FFFFFF"/>
                </a:solidFill>
              </a:defRPr>
            </a:pPr>
            <a:r>
              <a:t>Transformarea pregătirii pentru examenul de Bacalaureat dintr-un proces mecanic într-o experiență interactivă, structurată și ancorată 100% factual prin fuzionarea Knowledge Graph-urilor literare cu modele LLM de ultimă generație (Qwen).</a:t>
            </a:r>
          </a:p>
          <a:p>
            <a:pPr>
              <a:defRPr sz="1300">
                <a:solidFill>
                  <a:srgbClr val="F59E0B"/>
                </a:solidFill>
              </a:defRPr>
            </a:pPr>
            <a:r>
              <a:t>🎯 Zero halucinații factuale</a:t>
            </a:r>
            <a:br/>
            <a:r>
              <a:t>🎯 Generare automată de itemi pe 8 nivele</a:t>
            </a:r>
            <a:br/>
            <a:r>
              <a:t>🎯 Parcurs complet: Înțelegere ➔ Testare ➔ Eseu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645920"/>
            <a:ext cx="603504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94960" y="1645920"/>
            <a:ext cx="91440" cy="132588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783080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Ancorare Factuală Strictă (Grounding)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Eliminarea completă a erorilor literare prin modelarea operelor în Knowledge Graph-uri verificate primar.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3182112"/>
            <a:ext cx="603504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94960" y="3182112"/>
            <a:ext cx="91440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3319272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Generare Automată &amp; Scalabilă de Conținut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Construcția automată de exerciții multi-format (grile, flashcards, cronologii, asocieri) cu control determinist al costurilor.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4718304"/>
            <a:ext cx="603504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94960" y="4718304"/>
            <a:ext cx="91440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4855464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3. Asistență Metodologică la Redactare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Ghidarea elevilor în formularea argumentelor, integrarea scenelor-cheie și respectarea cerințelor baremului oficial de BAC.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Segoe UI"/>
              </a:defRPr>
            </a:pPr>
            <a:r>
              <a:t>STRUCTURĂ ȘI FLUX DE 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Arhitectura Tehnică End-to-End a Proiectului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23744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23744" cy="54864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2340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NIVEL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15798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Nivelul de Date &amp; Cunoștințe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Knowledge Graph (Ontologie: Evenimente, Personaje, Teme)</a:t>
            </a:r>
            <a:br/>
            <a:r>
              <a:t>• Sub-grafuri pe capitole</a:t>
            </a:r>
            <a:br/>
            <a:r>
              <a:t>• Dovezi primare PDF (citate, pagini)</a:t>
            </a:r>
            <a:br/>
            <a:r>
              <a:t>• Registre de metadate &amp; works.py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645920"/>
            <a:ext cx="2523744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65576" y="1645920"/>
            <a:ext cx="252374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7016" y="1691640"/>
            <a:ext cx="2340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NIVEL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456" y="2331720"/>
            <a:ext cx="215798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Nivelul de Procesare AI &amp; Generare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Graph Packets deterministe</a:t>
            </a:r>
            <a:br/>
            <a:r>
              <a:t>• Qwen 3.7 / 3.5 Flash via OpenRouter</a:t>
            </a:r>
            <a:br/>
            <a:r>
              <a:t>• Reasoning Effort adaptiv (Medium/High)</a:t>
            </a:r>
            <a:br/>
            <a:r>
              <a:t>• Pipeline `testare_rapida.py`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645920"/>
            <a:ext cx="2523744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645920"/>
            <a:ext cx="2523744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691640"/>
            <a:ext cx="2340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NIVEL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31720"/>
            <a:ext cx="215798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Nivelul de Validare &amp; Evaluare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Validator local structural &amp; lexical</a:t>
            </a:r>
            <a:br/>
            <a:r>
              <a:t>• Sentence-Transformers (MiniLM) deduplicare</a:t>
            </a:r>
            <a:br/>
            <a:r>
              <a:t>• Profiler stilistic &amp; penalizări</a:t>
            </a:r>
            <a:br/>
            <a:r>
              <a:t>• Logging complet tokeni &amp; costuri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3688" y="1645920"/>
            <a:ext cx="2523744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33688" y="1645920"/>
            <a:ext cx="252374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5128" y="1691640"/>
            <a:ext cx="2340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NIVEL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8" y="2331720"/>
            <a:ext cx="215798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Nivelul UI &amp; Experiență Elev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Streamlit Application (app.py)</a:t>
            </a:r>
            <a:br/>
            <a:r>
              <a:t>• 7 Componente Custom HTML/JS/CSS</a:t>
            </a:r>
            <a:br/>
            <a:r>
              <a:t>• Mindmaps interactive de eseu</a:t>
            </a:r>
            <a:br/>
            <a:r>
              <a:t>• Gamification (Progress Orbs)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Segoe UI"/>
              </a:defRPr>
            </a:pPr>
            <a:r>
              <a:t>FUNDAȚIA FACTUALĂ A CUNOAȘTERII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Modelarea Literară: Ontologia Knowledge Graph-ului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E7490"/>
                </a:solidFill>
              </a:defRPr>
            </a:pPr>
            <a:r>
              <a:t>Structura Grafului Canonic («Ion»)</a:t>
            </a:r>
          </a:p>
          <a:p>
            <a:pPr>
              <a:spcAft>
                <a:spcPts val="1200"/>
              </a:spcAft>
              <a:defRPr sz="1250">
                <a:solidFill>
                  <a:srgbClr val="0F172A"/>
                </a:solidFill>
              </a:defRPr>
            </a:pPr>
            <a:r>
              <a:t>• 1 Operă (`Work`) &amp; 1 Autor (`Author`)</a:t>
            </a:r>
            <a:br/>
            <a:r>
              <a:t>• 2 Părți («Glasul pământului», «Glasul iubirii»)</a:t>
            </a:r>
            <a:br/>
            <a:r>
              <a:t>• 13 Capitole narative complete (de la «Începutul» la «Sfârșitul»)</a:t>
            </a:r>
            <a:br/>
            <a:r>
              <a:t>• 124 Evenimente Narative (`NarrativeEvent`) ordonate global &amp; local</a:t>
            </a:r>
            <a:br/>
            <a:r>
              <a:t>• 24 Personaje (`Character`) cu relații inter-umane reificate</a:t>
            </a:r>
            <a:br/>
            <a:r>
              <a:t>• 14 Locații (`Location`), 5 Conflicte majore, 9 Teme literare</a:t>
            </a:r>
            <a:br/>
            <a:r>
              <a:t>• 4 Valori morale/sociale, 26 Stări narative de capitol</a:t>
            </a:r>
          </a:p>
          <a:p>
            <a:pPr>
              <a:defRPr sz="1200">
                <a:solidFill>
                  <a:srgbClr val="0E7490"/>
                </a:solidFill>
              </a:defRPr>
            </a:pPr>
            <a:r>
              <a:t>📌 Fiecare eveniment include verbalizare simplă + elevată, dovezi primare (locator PDF / citat text) și participanți.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563EB"/>
                </a:solidFill>
              </a:defRPr>
            </a:pPr>
            <a:r>
              <a:t>Relații Controlate &amp; Tipuri de Legături</a:t>
            </a:r>
          </a:p>
          <a:p>
            <a:pPr>
              <a:defRPr sz="1250">
                <a:solidFill>
                  <a:srgbClr val="0F172A"/>
                </a:solidFill>
              </a:defRPr>
            </a:pPr>
            <a:r>
              <a:t>1. Ierarhie Structurală:</a:t>
            </a:r>
            <a:br/>
            <a:r>
              <a:t>   part_of, has_chapter, occurs_in_chapter</a:t>
            </a:r>
            <a:br/>
            <a:br/>
            <a:r>
              <a:t>2. Dependențe Temporale &amp; Secvențiale:</a:t>
            </a:r>
            <a:br/>
            <a:r>
              <a:t>   occurs_before, immediately_precedes, immediately_follows</a:t>
            </a:r>
            <a:br/>
            <a:br/>
            <a:r>
              <a:t>3. Relații Cauzale &amp; Motivaționale:</a:t>
            </a:r>
            <a:br/>
            <a:r>
              <a:t>   causes, contributes_to, enables, results_in</a:t>
            </a:r>
            <a:br/>
            <a:br/>
            <a:r>
              <a:t>4. Participare &amp; Dimensiune Critică:</a:t>
            </a:r>
            <a:br/>
            <a:r>
              <a:t>   involves_character, illustrates_theme, triggers_conflict</a:t>
            </a:r>
            <a:br/>
            <a:br/>
            <a:r>
              <a:t>🛡️ Rigurozitate: Evenimentele interpretative nesusținute sunt trecute în `excluded_events`.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Segoe UI"/>
              </a:defRPr>
            </a:pPr>
            <a:r>
              <a:t>INTERFAȚA ȘI EXPERIENȚA UTILIZATORULUI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Arhitectura Frontend: Streamlit &amp; Componente Custom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28416" cy="1097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F172A"/>
                </a:solidFill>
              </a:defRPr>
            </a:pPr>
            <a:r>
              <a:t>Workspace pe 3 Taburi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Fiecare operă literară oferă 3 moduri dedicate de studiu:</a:t>
            </a:r>
            <a:br/>
            <a:r>
              <a:t>1. «Înțelege opera»</a:t>
            </a:r>
            <a:br/>
            <a:r>
              <a:t>2. «Testare rapidă»</a:t>
            </a:r>
            <a:br/>
            <a:r>
              <a:t>3. «Construiește eseu»</a:t>
            </a:r>
            <a:br/>
            <a:r>
              <a:t>Navigare intuitivă și memorarea preferințelor de tab.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645920"/>
            <a:ext cx="3328416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16552" y="1645920"/>
            <a:ext cx="3328416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F172A"/>
                </a:solidFill>
              </a:defRPr>
            </a:pPr>
            <a:r>
              <a:t>7 Componente Custom Web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Extensii Streamlit cu JavaScript, CSS și HTML izolate:</a:t>
            </a:r>
            <a:br/>
            <a:r>
              <a:t>• Chronology Drag &amp; Drop</a:t>
            </a:r>
            <a:br/>
            <a:r>
              <a:t>• Flashcard Flip &amp; Spaced Review</a:t>
            </a:r>
            <a:br/>
            <a:r>
              <a:t>• Matching Pairs &amp; Word Fill</a:t>
            </a:r>
            <a:br/>
            <a:r>
              <a:t>• Mindmap Viewer &amp; Scene Annotator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645920"/>
            <a:ext cx="3328416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01584" y="1645920"/>
            <a:ext cx="3328416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F172A"/>
                </a:solidFill>
              </a:defRPr>
            </a:pPr>
            <a:r>
              <a:t>Gamification &amp; Progres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• Progress Orbs interactive</a:t>
            </a:r>
            <a:br/>
            <a:r>
              <a:t>• Calcul procentual de stăpânire per operă</a:t>
            </a:r>
            <a:br/>
            <a:r>
              <a:t>• Salvare deterministă în progres local (`data/progress.py`)</a:t>
            </a:r>
            <a:br/>
            <a:r>
              <a:t>• Posibilitate de resetare și auditare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Segoe UI"/>
              </a:defRPr>
            </a:pPr>
            <a:r>
              <a:t>FLUXUL COMPLET DE ASIMILARE AL OPEREI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Cele 3 Piloni de Învățare din Aplicație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28416" cy="1097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Tab 1: Înțelege Opera</a:t>
            </a:r>
          </a:p>
          <a:p>
            <a:pPr>
              <a:spcAft>
                <a:spcPts val="1000"/>
              </a:spcAft>
              <a:defRPr sz="1200" b="1">
                <a:solidFill>
                  <a:srgbClr val="0E7490"/>
                </a:solidFill>
              </a:defRPr>
            </a:pPr>
            <a:r>
              <a:t>Ghidaj Teoretic &amp; Vizual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• Sinteza curentului literar &amp; speciei</a:t>
            </a:r>
            <a:br/>
            <a:r>
              <a:t>• Rezumate validate pe toate cele 13 capitole</a:t>
            </a:r>
            <a:br/>
            <a:r>
              <a:t>• Scheme compoziționale (Titlu, Incipit-Final, Conflicte)</a:t>
            </a:r>
            <a:br/>
            <a:r>
              <a:t>• Hărți mentale ale personajelor &amp; relațiilor</a:t>
            </a:r>
            <a:br/>
            <a:r>
              <a:t>• Adnotări pe scene-cheie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645920"/>
            <a:ext cx="3328416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16552" y="1645920"/>
            <a:ext cx="3328416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Tab 2: Testare Rapidă</a:t>
            </a:r>
          </a:p>
          <a:p>
            <a:pPr>
              <a:spcAft>
                <a:spcPts val="1000"/>
              </a:spcAft>
              <a:defRPr sz="1200" b="1">
                <a:solidFill>
                  <a:srgbClr val="2563EB"/>
                </a:solidFill>
              </a:defRPr>
            </a:pPr>
            <a:r>
              <a:t>Bancă Automată de Exerciții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• Grile cu variante multiple (MCQ)</a:t>
            </a:r>
            <a:br/>
            <a:r>
              <a:t>• Exerciții de ordonare cronologică interactivă</a:t>
            </a:r>
            <a:br/>
            <a:r>
              <a:t>• Exerciții de completare a lacunelor (Fill-in)</a:t>
            </a:r>
            <a:br/>
            <a:r>
              <a:t>• Flashcards cu repetiție spațiată</a:t>
            </a:r>
            <a:br/>
            <a:r>
              <a:t>• Asocieri (personaj-acțiune-statut)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645920"/>
            <a:ext cx="3328416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01584" y="1645920"/>
            <a:ext cx="3328416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Tab 3: Construiește Eseu</a:t>
            </a:r>
          </a:p>
          <a:p>
            <a:pPr>
              <a:spcAft>
                <a:spcPts val="1000"/>
              </a:spcAft>
              <a:defRPr sz="1200" b="1">
                <a:solidFill>
                  <a:srgbClr val="F59E0B"/>
                </a:solidFill>
              </a:defRPr>
            </a:pPr>
            <a:r>
              <a:t>Asistență la Redactare Structurată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• Generare schemă eseu conform baremului BAC</a:t>
            </a:r>
            <a:br/>
            <a:r>
              <a:t>• Formulare ipoteză, argumente &amp; scene demonstrative</a:t>
            </a:r>
            <a:br/>
            <a:r>
              <a:t>• Integrarea citatelor primare verificate</a:t>
            </a:r>
            <a:br/>
            <a:r>
              <a:t>• Mindmap interactiv al eseului</a:t>
            </a:r>
            <a:br/>
            <a:r>
              <a:t>• Evaluare &amp; sugestii de îmbunătățire stilistică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Segoe UI"/>
              </a:defRPr>
            </a:pPr>
            <a:r>
              <a:t>AUTOMATIZARE ȘI SCALABILITATE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Pipeline-ul de Generare Automată («testare_rapida.py»)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100584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Input &amp; Parsare Graf</a:t>
            </a:r>
          </a:p>
          <a:p>
            <a:pPr>
              <a:spcBef>
                <a:spcPts val="300"/>
              </a:spcBef>
              <a:defRPr sz="1250">
                <a:solidFill>
                  <a:srgbClr val="64748B"/>
                </a:solidFill>
              </a:defRPr>
            </a:pPr>
            <a:r>
              <a:t>Primește fișierul `knowledge-graph.json`, extrage metadata, capitolele, nodurile și aserțiunile ontologice.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106984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788920"/>
            <a:ext cx="109728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Planificare Loturi (Batches)</a:t>
            </a:r>
          </a:p>
          <a:p>
            <a:pPr>
              <a:spcBef>
                <a:spcPts val="300"/>
              </a:spcBef>
              <a:defRPr sz="1250">
                <a:solidFill>
                  <a:srgbClr val="64748B"/>
                </a:solidFill>
              </a:defRPr>
            </a:pPr>
            <a:r>
              <a:t>Generează 96 de întrebări (4 loturi x 24 întrebări). Exclude istoricul rezervat anterior pentru a evita repetițiile.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109728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06908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3. Apeluri Qwen Dedicate</a:t>
            </a:r>
          </a:p>
          <a:p>
            <a:pPr>
              <a:spcBef>
                <a:spcPts val="300"/>
              </a:spcBef>
              <a:defRPr sz="1250">
                <a:solidFill>
                  <a:srgbClr val="64748B"/>
                </a:solidFill>
              </a:defRPr>
            </a:pPr>
            <a:r>
              <a:t>Execută 32 de apeluri izolate către Qwen Flash (`reasoning=medium`). Fiecare apel acoperă o categorie specifică.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74920"/>
            <a:ext cx="106984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74920"/>
            <a:ext cx="10972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21208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4. Construcție Artefacte UI</a:t>
            </a:r>
          </a:p>
          <a:p>
            <a:pPr>
              <a:spcBef>
                <a:spcPts val="300"/>
              </a:spcBef>
              <a:defRPr sz="1250">
                <a:solidFill>
                  <a:srgbClr val="64748B"/>
                </a:solidFill>
              </a:defRPr>
            </a:pPr>
            <a:r>
              <a:t>Generează automat fișierele consumate de UI: `questions.json`, `flashcards.json`, exerciții de cronologie, completare și asociere.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METODOLOGIE ȘI EVALUARE RIGUROASĂ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Cadrul de Cercetare Științifică și Benchmark-urile Proiectului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28416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Experimentul 1: Benchmark &amp; Tipologii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200">
                <a:solidFill>
                  <a:srgbClr val="CBD5E1"/>
                </a:solidFill>
              </a:defRPr>
            </a:pPr>
            <a:r>
              <a:t>Definirea celor 8 tipologii cognitive de întrebări (Low/Mid/High-Hop) și compararea primară a modelelor pe subgraful Capitolului I.</a:t>
            </a:r>
          </a:p>
          <a:p>
            <a:pPr>
              <a:defRPr sz="1250">
                <a:solidFill>
                  <a:srgbClr val="06B6D4"/>
                </a:solidFill>
              </a:defRPr>
            </a:pPr>
            <a:r>
              <a:t>• Evaluator determinist de JSON</a:t>
            </a:r>
            <a:br/>
            <a:r>
              <a:t>• Scoring pe acoperire de graf</a:t>
            </a:r>
            <a:br/>
            <a:r>
              <a:t>• Baseline: DeepSeek v4 Flash, Gemini 2.5 Flash Lite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645920"/>
            <a:ext cx="3328416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16552" y="1645920"/>
            <a:ext cx="3328416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Experimentul 2: Semantică &amp; Stil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200">
                <a:solidFill>
                  <a:srgbClr val="CBD5E1"/>
                </a:solidFill>
              </a:defRPr>
            </a:pPr>
            <a:r>
              <a:t>Introducerea Sentence-Transformers pentru eliminarea duplicatelor semantice și a unui profiler stilistic pentru rezumate.</a:t>
            </a:r>
          </a:p>
          <a:p>
            <a:pPr>
              <a:defRPr sz="1250">
                <a:solidFill>
                  <a:srgbClr val="2563EB"/>
                </a:solidFill>
              </a:defRPr>
            </a:pPr>
            <a:r>
              <a:t>• Model: `paraphrase-multilingual-MiniLM`</a:t>
            </a:r>
            <a:br/>
            <a:r>
              <a:t>• Calibrare automată prag cosinus</a:t>
            </a:r>
            <a:br/>
            <a:r>
              <a:t>• Penalizări lexicale (expresii umplutură)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645920"/>
            <a:ext cx="3328416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01584" y="1645920"/>
            <a:ext cx="3328416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Experimentul 3: RQUGE-Ro &amp; Qwen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200">
                <a:solidFill>
                  <a:srgbClr val="CBD5E1"/>
                </a:solidFill>
              </a:defRPr>
            </a:pPr>
            <a:r>
              <a:t>Adaptarea RQUGE pentru limba română (mT5 + XLM-RoBERTa) și optimizarea familiei Qwen (3.7 / 3.5 Flash) pentru producție.</a:t>
            </a:r>
          </a:p>
          <a:p>
            <a:pPr>
              <a:defRPr sz="1250">
                <a:solidFill>
                  <a:srgbClr val="F59E0B"/>
                </a:solidFill>
              </a:defRPr>
            </a:pPr>
            <a:r>
              <a:t>• Factual Protection cu dovezi PDF</a:t>
            </a:r>
            <a:br/>
            <a:r>
              <a:t>• Reasoning effort adaptiv</a:t>
            </a:r>
            <a:br/>
            <a:r>
              <a:t>• Cost-efficiency: $0.01/set complet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Segoe UI"/>
              </a:defRPr>
            </a:pPr>
            <a:r>
              <a:t>TAXONOMIA COMPLEXITĂȚII ÎNTREBĂRILOR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Experimentul 1: Cele 8 Tipologii Cognitive de Întrebări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91440" cy="100584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Simple Facts (Low-hop)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</a:defRPr>
            </a:pPr>
            <a:r>
              <a:t>Interogare directă a atributelor de bază (ex: autor, locație, obiect).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52120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788920"/>
            <a:ext cx="91440" cy="100584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898648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Character Relations (Low-hop)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</a:defRPr>
            </a:pPr>
            <a:r>
              <a:t>Relații de rudenie, alianță, căsătorie sau dușmănie între personaje.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91440" cy="100584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41648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Narrative Actions (Low-hop)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</a:defRPr>
            </a:pPr>
            <a:r>
              <a:t>Acțiuni concrete desfășurate de personaje într-o scenă specifică.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74920"/>
            <a:ext cx="52120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74920"/>
            <a:ext cx="91440" cy="100584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84648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4. Temporal Order (Mid-hop)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</a:defRPr>
            </a:pPr>
            <a:r>
              <a:t>Ordonarea corectă a 3-4 evenimente consecutive dintr-un capitol.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45920"/>
            <a:ext cx="52120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645920"/>
            <a:ext cx="9144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755648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5. Cause &amp; Effect (Mid-hop)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</a:defRPr>
            </a:pPr>
            <a:r>
              <a:t>Identificarea motivațiilor interne și a consecințelor directe ale unei alegeri.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788920"/>
            <a:ext cx="52120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788920"/>
            <a:ext cx="9144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898648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6. Character Evolution (High-hop)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</a:defRPr>
            </a:pPr>
            <a:r>
              <a:t>Transformarea psihologică sau de statut a personajului de-a lungul capitolelor.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52120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931920"/>
            <a:ext cx="9144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41648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7. Literary Interpretation (High-hop)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</a:defRPr>
            </a:pPr>
            <a:r>
              <a:t>Corelarea evenimentelor cu teme majore, conflicte și simboluri literare.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074920"/>
            <a:ext cx="52120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5074920"/>
            <a:ext cx="9144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5184648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8. Cross-Chapter Comparison (High-hop)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</a:defRPr>
            </a:pPr>
            <a:r>
              <a:t>Comparații de structură, comportament sau motive între capitole diferite.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Segoe UI"/>
              </a:defRPr>
            </a:pPr>
            <a:r>
              <a:t>ELIMINAREA DUPLICATELOR ȘI REGLAJUL LEXICAL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Experimentul 2: Similaritate Semantică &amp; Control Stilistic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E7490"/>
                </a:solidFill>
              </a:defRPr>
            </a:pPr>
            <a:r>
              <a:t>1. Deduplicare Semantică cu MiniLM</a:t>
            </a:r>
          </a:p>
          <a:p>
            <a:pPr>
              <a:defRPr sz="1250">
                <a:solidFill>
                  <a:srgbClr val="0F172A"/>
                </a:solidFill>
              </a:defRPr>
            </a:pPr>
            <a:r>
              <a:t>• Model local: `sentence-transformers/paraphrase-multilingual-MiniLM-L12-v2`</a:t>
            </a:r>
            <a:br/>
            <a:br/>
            <a:r>
              <a:t>• Transformă întrebările în embeddinguri normalizate și calculează similaritatea cosinus.</a:t>
            </a:r>
            <a:br/>
            <a:br/>
            <a:r>
              <a:t>• Scriptul `calibrate_similarity.py` calibrează pragurile de duplicare pe perechi etichetate (ex: 0.74 - 0.82).</a:t>
            </a:r>
            <a:br/>
            <a:br/>
            <a:r>
              <a:t>• Rezultat: Previne generarea a două întrebări cu același sens formulate cu cuvinte diferite.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563EB"/>
                </a:solidFill>
              </a:defRPr>
            </a:pPr>
            <a:r>
              <a:t>2. Profiler Stilistic Automat (`text_profile.py`)</a:t>
            </a:r>
          </a:p>
          <a:p>
            <a:pPr>
              <a:defRPr sz="1250">
                <a:solidFill>
                  <a:srgbClr val="0F172A"/>
                </a:solidFill>
              </a:defRPr>
            </a:pPr>
            <a:r>
              <a:t>• Evaluatorul măsoară automat parametrii stilistici ai rezumatelor generate:</a:t>
            </a:r>
            <a:br/>
            <a:r>
              <a:t>   - Raportul conectorilor discursivi</a:t>
            </a:r>
            <a:br/>
            <a:r>
              <a:t>   - Rata expresiilor de umplutură (filler words)</a:t>
            </a:r>
            <a:br/>
            <a:r>
              <a:t>   - Lungimea medie a propozițiilor</a:t>
            </a:r>
            <a:br/>
            <a:r>
              <a:t>   - Ponderea numelor de personaje din graf</a:t>
            </a:r>
            <a:br/>
            <a:r>
              <a:t>   - Repetarea excesivă a aceluiași conector</a:t>
            </a:r>
            <a:br/>
            <a:br/>
            <a:r>
              <a:t>• Penalizare automată: Până la -10 puncte dacă rezumatul nu respectă profilul de referință.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Segoe UI"/>
              </a:defRPr>
            </a:pPr>
            <a:r>
              <a:t>EVALUAREA CALITĂȚII ÎNTREBĂRILOR FĂRĂ EVALUATORI UMANI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Experimentul 3: Framework-ul RQUGE Adaptat pentru Română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28416" cy="1097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Arhitectura în 2 Etape (RQUGE)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Adaptare după lucrarea științifică RQUGE:</a:t>
            </a:r>
            <a:br/>
            <a:r>
              <a:t>1. Extragerea span-urilor candidate de răspuns din text.</a:t>
            </a:r>
            <a:br/>
            <a:r>
              <a:t>2. Generarea și scorarea întrebărilor corespondente pe baza referințelor din graf.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645920"/>
            <a:ext cx="3328416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16552" y="1645920"/>
            <a:ext cx="3328416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Modele &amp; Fine-Tuning în Română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Înlocuirea modelelor mari în engleză cu arhitecturi eficiente multilingve:</a:t>
            </a:r>
            <a:br/>
            <a:r>
              <a:t>• `google/mt5-small` (generare)</a:t>
            </a:r>
            <a:br/>
            <a:r>
              <a:t>• `FacebookAI/xlm-roberta-base` (scorare)</a:t>
            </a:r>
            <a:br/>
            <a:r>
              <a:t>• Suport LoRA și fine-tuning pe XQuAD-ro &amp; SQuAD.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645920"/>
            <a:ext cx="3328416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01584" y="1645920"/>
            <a:ext cx="3328416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Obiectiv &amp; Validare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• Evaluare automată a relevanței, clarității și adecvării pedagogice a întrebărilor.</a:t>
            </a:r>
            <a:br/>
            <a:r>
              <a:t>• Calculul corelației Pearson/Spearman cu notele acordate de profesori umani pe seturi de testare dedicate.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Segoe UI"/>
              </a:defRPr>
            </a:pPr>
            <a:r>
              <a:t>PERFORMANȚĂ, REASONING ȘI CONTROLUL COSTURILOR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Integrarea Modelului Qwen («cercetare-qwen»)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91440" cy="21031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Modelul Qwen 3.7 Flash &amp; 3.5 Flash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Alegerea familiei Qwen oferă un echilibru remarcabil între capabilități lingvistice superioare în limba română, viteză de execuție și costuri reduse per apel.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91440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Controlul Parametrilor de Reasoning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Folosirea reasoning-ului `medium` pentru rezolvarea conexiunilor cauzale și a evoluției personajelor, obținând raționamente literare complexe fără degradare de viteză.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91440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Execuție Modulară pe 24 Sarcini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Runner secvențial determinist: 8 categorii de întrebări + 13 rezumate de capitole + 3 elemente compoziționale (Titlu, Incipit-Final, Conflict).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931920"/>
            <a:ext cx="91440" cy="2103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114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Persistență &amp; Reziliență la Reluare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Sistem complet de checkpointing (`--resume-run`). Sarcinile validate nu sunt reapelate, iar consumul de tokeni este urmărit cu precizie de audit.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CUM GARANTĂM ZERO HALUCINAȚII LITERARE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Mecanisme Avansate de Protecție Factuală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28416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Pachete cu Dovezi Primare Verificate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Fiecare pachet trimis modelului include doar evenimente marcate `verified_primary`, însoțite de locatorul paginii din PDF și de citatul exact din roman.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645920"/>
            <a:ext cx="3328416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16552" y="1645920"/>
            <a:ext cx="3328416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Lista de Evenimente Excluse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Evenimentele insuficient documentate sau pur speculative sunt izolate în `excluded_events`. Promptul interzice explicit verbalizarea acestora.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645920"/>
            <a:ext cx="3328416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01584" y="1645920"/>
            <a:ext cx="3328416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Validator Lexical &amp; Factual Strict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Verifică alinierea lexicală directă între propozițiile generate și citatele primare. Respinge automat exagerările nefondate («definitiv», «instantaneu», «exclusiv»).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Segoe UI"/>
              </a:defRPr>
            </a:pPr>
            <a:r>
              <a:t>SUSTENABILITATE ȘI OPTIMIZARE ECONOMICĂ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Eficiența Resurselor: Token Usage și Analiza Costurilor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E7490"/>
                </a:solidFill>
              </a:defRPr>
            </a:pPr>
            <a:r>
              <a:t>Metrici de Cost (Rulare Completă Qwen)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Cost per set de 24 întrebări: ~ $0.010 - $0.034 USD</a:t>
            </a:r>
            <a:br/>
            <a:br/>
            <a:r>
              <a:t>• Cost per rezumat de capitol: &lt; $0.003 USD</a:t>
            </a:r>
            <a:br/>
            <a:br/>
            <a:r>
              <a:t>• Cost total generare conținut complet per operă (96 întrebări + 13 rezumate + 3 scheme): sub $0.10 USD</a:t>
            </a:r>
            <a:br/>
            <a:br/>
            <a:r>
              <a:t>• Eficiență extraordinară comparativ cu GPT-4 / Claude 3.5 Sonnet (reducere de peste 95% a costurilor API).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563EB"/>
                </a:solidFill>
              </a:defRPr>
            </a:pPr>
            <a:r>
              <a:t>Sistemul de Auditare &amp; Gestiune Tokeni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`token-usage.csv` consemnează fiecare apel (prompt, completion, reasoning tokens).</a:t>
            </a:r>
            <a:br/>
            <a:br/>
            <a:r>
              <a:t>• `raport-rulare.md` și `raport-cost-intrebari.md` sunt generate automat fără costuri AI adiționale.</a:t>
            </a:r>
            <a:br/>
            <a:br/>
            <a:r>
              <a:t>• `manifest.json` îngheață hash-urile prompturilor și subgrafurilor utilizate pentru reproductibilitate 100%.</a:t>
            </a:r>
            <a:br/>
            <a:br/>
            <a:r>
              <a:t>• Niciun token nu se pierde la reluarea unei sesiuni întrerupte.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Segoe UI"/>
              </a:defRPr>
            </a:pPr>
            <a:r>
              <a:t>TEHNOLOGII, FRAMEWORK-URI ȘI MODELE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Stack-ul Tehnologic Integrat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23744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23744" cy="1097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15798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Core &amp; Backend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• Python 3.12 / 3.13</a:t>
            </a:r>
            <a:br/>
            <a:r>
              <a:t>• Virtual environments</a:t>
            </a:r>
            <a:br/>
            <a:r>
              <a:t>• JSON Schemas &amp; Validators</a:t>
            </a:r>
            <a:br/>
            <a:r>
              <a:t>• Unittest Suite automat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645920"/>
            <a:ext cx="2523744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65576" y="1645920"/>
            <a:ext cx="2523744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920240"/>
            <a:ext cx="215798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Interfață &amp; Componente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• Streamlit (Multi-page &amp; Tabs)</a:t>
            </a:r>
            <a:br/>
            <a:r>
              <a:t>• HTML5 / CSS3 (Glassmorphism)</a:t>
            </a:r>
            <a:br/>
            <a:r>
              <a:t>• Custom JS Component Extensions</a:t>
            </a:r>
            <a:br/>
            <a:r>
              <a:t>• Session State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45920"/>
            <a:ext cx="2523744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645920"/>
            <a:ext cx="2523744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920240"/>
            <a:ext cx="215798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Modele AI &amp; LLM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• Qwen 3.7 / 3.5 Flash (OpenRouter)</a:t>
            </a:r>
            <a:br/>
            <a:r>
              <a:t>• DeepSeek v4 Flash, Gemini 2.5</a:t>
            </a:r>
            <a:br/>
            <a:r>
              <a:t>• Sentence-Transformers (MiniLM)</a:t>
            </a:r>
            <a:br/>
            <a:r>
              <a:t>• mT5-small &amp; XLM-RoBERTa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33688" y="1645920"/>
            <a:ext cx="2523744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33688" y="1645920"/>
            <a:ext cx="2523744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6568" y="1920240"/>
            <a:ext cx="215798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Date &amp; Knowledge Graph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• Ontologie literară dedicată</a:t>
            </a:r>
            <a:br/>
            <a:r>
              <a:t>• JSON Graph Databases</a:t>
            </a:r>
            <a:br/>
            <a:r>
              <a:t>• RAG &amp; Indexare Citate Primare</a:t>
            </a:r>
            <a:br/>
            <a:r>
              <a:t>• Reprezentări grafice &amp; Mindmaps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REZUMAT EXECUTIV ȘI DEZVOLTĂRI ULTERIOARE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Concluzii, Impact Educațional și Direcții Viitoare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28416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Ce S-a Realizat cu Succes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Arhitectură hibridă funcțională (KG + Qwen + Streamlit).</a:t>
            </a:r>
            <a:br/>
            <a:r>
              <a:t>• Generare automată de conținut cu zero halucinații factuale.</a:t>
            </a:r>
            <a:br/>
            <a:r>
              <a:t>• Bază științifică solidă (3 experimente &amp; benchmarking riguros).</a:t>
            </a:r>
            <a:br/>
            <a:r>
              <a:t>• Eficiență extremă de cost.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645920"/>
            <a:ext cx="3328416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16552" y="1645920"/>
            <a:ext cx="3328416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Impactul Asupra Elevilor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Înțelegere structurală profundă în locul tocirii mecanice.</a:t>
            </a:r>
            <a:br/>
            <a:r>
              <a:t>• Feedback instantaneu și învățare activă adaptivă.</a:t>
            </a:r>
            <a:br/>
            <a:r>
              <a:t>• Dezvoltarea abilităților de analiză critică și eseu argumentativ conform cerințelor de examen.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645920"/>
            <a:ext cx="3328416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01584" y="1645920"/>
            <a:ext cx="3328416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Evoluție &amp; Direcții Viitoare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Extinderea ontologiei la toate cele 14+ opere canonice din programa de BAC.</a:t>
            </a:r>
            <a:br/>
            <a:r>
              <a:t>• Activarea evaluării automate RQUGE-Ro antrenată pe dataseturi românești.</a:t>
            </a:r>
            <a:br/>
            <a:r>
              <a:t>• Lansarea ca platformă web publică scalabilă.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