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b2bfacf0d1483b" /><Relationship Type="http://schemas.openxmlformats.org/officeDocument/2006/relationships/extended-properties" Target="/docProps/app.xml" Id="R3985dbd2af12468d" /><Relationship Type="http://schemas.openxmlformats.org/officeDocument/2006/relationships/officeDocument" Target="/ppt/presentation.xml" Id="Rd8c3e7a381fe4e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2829b773f41ad"/>
  </p:sldMasterIdLst>
  <p:notesMasterIdLst>
    <p:notesMasterId xmlns:r="http://schemas.openxmlformats.org/officeDocument/2006/relationships" r:id="R36a779ca0b6c478d"/>
  </p:notesMasterIdLst>
  <p:sldIdLst>
    <p:sldId xmlns:r="http://schemas.openxmlformats.org/officeDocument/2006/relationships" id="256" r:id="R324b2e15907048e9"/>
    <p:sldId xmlns:r="http://schemas.openxmlformats.org/officeDocument/2006/relationships" id="257" r:id="Rfefc3bfad3664795"/>
    <p:sldId xmlns:r="http://schemas.openxmlformats.org/officeDocument/2006/relationships" id="258" r:id="R9d39fac7d88a46bc"/>
    <p:sldId xmlns:r="http://schemas.openxmlformats.org/officeDocument/2006/relationships" id="259" r:id="R20aa8d5bbcbb4876"/>
    <p:sldId xmlns:r="http://schemas.openxmlformats.org/officeDocument/2006/relationships" id="260" r:id="R577f0d4f19df476d"/>
    <p:sldId xmlns:r="http://schemas.openxmlformats.org/officeDocument/2006/relationships" id="261" r:id="Radc89f53796f4de8"/>
    <p:sldId xmlns:r="http://schemas.openxmlformats.org/officeDocument/2006/relationships" id="262" r:id="R706b17f1ddc342fe"/>
    <p:sldId xmlns:r="http://schemas.openxmlformats.org/officeDocument/2006/relationships" id="263" r:id="Rda8e4395fe744a65"/>
    <p:sldId xmlns:r="http://schemas.openxmlformats.org/officeDocument/2006/relationships" id="264" r:id="R84458d0d2f744cc8"/>
    <p:sldId xmlns:r="http://schemas.openxmlformats.org/officeDocument/2006/relationships" id="265" r:id="Ra59d6977fbab440b"/>
    <p:sldId xmlns:r="http://schemas.openxmlformats.org/officeDocument/2006/relationships" id="266" r:id="R79e6496054ed4954"/>
    <p:sldId xmlns:r="http://schemas.openxmlformats.org/officeDocument/2006/relationships" id="267" r:id="R8775ed4be0bf4b88"/>
    <p:sldId xmlns:r="http://schemas.openxmlformats.org/officeDocument/2006/relationships" id="268" r:id="Rf3c348b0539f43e2"/>
    <p:sldId xmlns:r="http://schemas.openxmlformats.org/officeDocument/2006/relationships" id="269" r:id="R06ac7d838e744a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447d2584d94d52" /><Relationship Type="http://schemas.openxmlformats.org/officeDocument/2006/relationships/slideMaster" Target="/ppt/slideMasters/slideMaster1.xml" Id="R3b62829b773f41ad" /><Relationship Type="http://schemas.openxmlformats.org/officeDocument/2006/relationships/notesMaster" Target="/ppt/notesMasters/notesMaster1.xml" Id="R36a779ca0b6c478d" /><Relationship Type="http://schemas.openxmlformats.org/officeDocument/2006/relationships/presProps" Target="/ppt/presProps.xml" Id="R77bcd5fc75334e72" /><Relationship Type="http://schemas.openxmlformats.org/officeDocument/2006/relationships/tableStyles" Target="/ppt/tableStyles.xml" Id="R612bd62fac9d4ab7" /><Relationship Type="http://schemas.openxmlformats.org/officeDocument/2006/relationships/slide" Target="/ppt/slides/slide1.xml" Id="R324b2e15907048e9" /><Relationship Type="http://schemas.openxmlformats.org/officeDocument/2006/relationships/slide" Target="/ppt/slides/slide2.xml" Id="Rfefc3bfad3664795" /><Relationship Type="http://schemas.openxmlformats.org/officeDocument/2006/relationships/slide" Target="/ppt/slides/slide3.xml" Id="R9d39fac7d88a46bc" /><Relationship Type="http://schemas.openxmlformats.org/officeDocument/2006/relationships/slide" Target="/ppt/slides/slide4.xml" Id="R20aa8d5bbcbb4876" /><Relationship Type="http://schemas.openxmlformats.org/officeDocument/2006/relationships/slide" Target="/ppt/slides/slide5.xml" Id="R577f0d4f19df476d" /><Relationship Type="http://schemas.openxmlformats.org/officeDocument/2006/relationships/slide" Target="/ppt/slides/slide6.xml" Id="Radc89f53796f4de8" /><Relationship Type="http://schemas.openxmlformats.org/officeDocument/2006/relationships/slide" Target="/ppt/slides/slide7.xml" Id="R706b17f1ddc342fe" /><Relationship Type="http://schemas.openxmlformats.org/officeDocument/2006/relationships/slide" Target="/ppt/slides/slide8.xml" Id="Rda8e4395fe744a65" /><Relationship Type="http://schemas.openxmlformats.org/officeDocument/2006/relationships/slide" Target="/ppt/slides/slide9.xml" Id="R84458d0d2f744cc8" /><Relationship Type="http://schemas.openxmlformats.org/officeDocument/2006/relationships/slide" Target="/ppt/slides/slide10.xml" Id="Ra59d6977fbab440b" /><Relationship Type="http://schemas.openxmlformats.org/officeDocument/2006/relationships/slide" Target="/ppt/slides/slide11.xml" Id="R79e6496054ed4954" /><Relationship Type="http://schemas.openxmlformats.org/officeDocument/2006/relationships/slide" Target="/ppt/slides/slide12.xml" Id="R8775ed4be0bf4b88" /><Relationship Type="http://schemas.openxmlformats.org/officeDocument/2006/relationships/slide" Target="/ppt/slides/slide13.xml" Id="Rf3c348b0539f43e2" /><Relationship Type="http://schemas.openxmlformats.org/officeDocument/2006/relationships/slide" Target="/ppt/slides/slide14.xml" Id="R06ac7d838e744a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88d37c237349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f903e47094c12" /><Relationship Type="http://schemas.openxmlformats.org/officeDocument/2006/relationships/notesMaster" Target="/ppt/notesMasters/notesMaster1.xml" Id="R737fecf706bb40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4a2035e2bf4fe1" /><Relationship Type="http://schemas.openxmlformats.org/officeDocument/2006/relationships/notesMaster" Target="/ppt/notesMasters/notesMaster1.xml" Id="R0ae6913e88ca4b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7432f29bbb4848" /><Relationship Type="http://schemas.openxmlformats.org/officeDocument/2006/relationships/notesMaster" Target="/ppt/notesMasters/notesMaster1.xml" Id="Rce190feb6ee74f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7a1b426e64d0f" /><Relationship Type="http://schemas.openxmlformats.org/officeDocument/2006/relationships/notesMaster" Target="/ppt/notesMasters/notesMaster1.xml" Id="R926479f7c106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af43880214426d" /><Relationship Type="http://schemas.openxmlformats.org/officeDocument/2006/relationships/notesMaster" Target="/ppt/notesMasters/notesMaster1.xml" Id="Rf204b044a69644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e40591f1f048f3" /><Relationship Type="http://schemas.openxmlformats.org/officeDocument/2006/relationships/notesMaster" Target="/ppt/notesMasters/notesMaster1.xml" Id="Rdd440efc075744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583c99e7174afc" /><Relationship Type="http://schemas.openxmlformats.org/officeDocument/2006/relationships/notesMaster" Target="/ppt/notesMasters/notesMaster1.xml" Id="Rf0017750a75448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bfe47ed7714c98" /><Relationship Type="http://schemas.openxmlformats.org/officeDocument/2006/relationships/notesMaster" Target="/ppt/notesMasters/notesMaster1.xml" Id="R2ef1b3919ec243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372bb1a9994e61" /><Relationship Type="http://schemas.openxmlformats.org/officeDocument/2006/relationships/notesMaster" Target="/ppt/notesMasters/notesMaster1.xml" Id="R0371a2783fb64e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e85bac037b4f1d" /><Relationship Type="http://schemas.openxmlformats.org/officeDocument/2006/relationships/notesMaster" Target="/ppt/notesMasters/notesMaster1.xml" Id="R40cb64c5406543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f1baf8c2ef4b22" /><Relationship Type="http://schemas.openxmlformats.org/officeDocument/2006/relationships/notesMaster" Target="/ppt/notesMasters/notesMaster1.xml" Id="R123e70ab88ca42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d42ad55f654d2a" /><Relationship Type="http://schemas.openxmlformats.org/officeDocument/2006/relationships/notesMaster" Target="/ppt/notesMasters/notesMaster1.xml" Id="Rbf8c42fecc3a40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65dc6a01c84b7c" /><Relationship Type="http://schemas.openxmlformats.org/officeDocument/2006/relationships/notesMaster" Target="/ppt/notesMasters/notesMaster1.xml" Id="Ra0795e6253f548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c54714981f4c81" /><Relationship Type="http://schemas.openxmlformats.org/officeDocument/2006/relationships/notesMaster" Target="/ppt/notesMasters/notesMaster1.xml" Id="R1d16ac20097c44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Deschideți cu problema: elevul are mult conținut, dar puțină structură, feedback și trasabilitate.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assets/bacorado-logo.jpeg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Cele patru cifre sunt repere concrete ale produsului; costul este doar consumul modelului, nu TCO.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data/works.json</a:t>
            </a:r>
          </a:p>
          <a:p xmlns:a="http://schemas.openxmlformats.org/drawingml/2006/main">
            <a:r>
              <a:t>- data/generated_works/moara_cu_noroc/manifest.json</a:t>
            </a:r>
          </a:p>
          <a:p xmlns:a="http://schemas.openxmlformats.org/drawingml/2006/main">
            <a:r>
              <a:t>- data/generated_works/moara_cu_noroc/testare-rapida/manifest.json</a:t>
            </a:r>
          </a:p>
          <a:p xmlns:a="http://schemas.openxmlformats.org/drawingml/2006/main">
            <a:r>
              <a:t>- data/generated_works/moara_cu_noroc/cost-report.json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Prezentați produsul ca un traseu coerent, nu ca o colecție de funcții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pages/opera_page.py</a:t>
            </a:r>
          </a:p>
          <a:p xmlns:a="http://schemas.openxmlformats.org/drawingml/2006/main">
            <a:r>
              <a:t>- components/learning_path_ui.py</a:t>
            </a:r>
          </a:p>
          <a:p xmlns:a="http://schemas.openxmlformats.org/drawingml/2006/main">
            <a:r>
              <a:t>- components/quiz_ui.py</a:t>
            </a:r>
          </a:p>
          <a:p xmlns:a="http://schemas.openxmlformats.org/drawingml/2006/main">
            <a:r>
              <a:t>- components/essay_ui.py</a:t>
            </a:r>
          </a:p>
          <a:p xmlns:a="http://schemas.openxmlformats.org/drawingml/2006/main">
            <a:r>
              <a:t>- components/ai_status_ui.py</a:t>
            </a:r>
          </a:p>
          <a:p xmlns:a="http://schemas.openxmlformats.org/drawingml/2006/main">
            <a:r>
              <a:t>- services/progress_service.py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Acest slide demonstrează densitatea livrabilului pentru o singură operă și separă înțelegerea de evaluare.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data/generated_works/moara_cu_noroc/intelegere-opera/manifest.json</a:t>
            </a:r>
          </a:p>
          <a:p xmlns:a="http://schemas.openxmlformats.org/drawingml/2006/main">
            <a:r>
              <a:t>- data/generated_works/moara_cu_noroc/testare-rapida/manifest.json</a:t>
            </a:r>
          </a:p>
          <a:p xmlns:a="http://schemas.openxmlformats.org/drawingml/2006/main">
            <a:r>
              <a:t>- data/generated_works/moara_cu_noroc/construieste-eseu/manifest.json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Accentuați diferența față de un prompt unic: Bacado are un proces editorial tehnic, nu doar o cerere trimisă unui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scripts/build_complete_work.py</a:t>
            </a:r>
          </a:p>
          <a:p xmlns:a="http://schemas.openxmlformats.org/drawingml/2006/main">
            <a:r>
              <a:t>- scripts/README-creare-opera.md</a:t>
            </a:r>
          </a:p>
          <a:p xmlns:a="http://schemas.openxmlformats.org/drawingml/2006/main">
            <a:r>
              <a:t>- data/generated_works/moara_cu_noroc/manifest.json</a:t>
            </a:r>
          </a:p>
          <a:p xmlns:a="http://schemas.openxmlformats.org/drawingml/2006/main">
            <a:r>
              <a:t>- cercetare-qwen/README.md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Explicați knowledge graph-ul ca pe o bază editorială structurată, nu ca pe un grafic decorativ.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grafuri/moara-cu-noroc/knowledge-graph.json</a:t>
            </a:r>
          </a:p>
          <a:p xmlns:a="http://schemas.openxmlformats.org/drawingml/2006/main">
            <a:r>
              <a:t>- grafuri/moara-cu-noroc/prompt-generare-graf-moara-cu-noroc.md</a:t>
            </a:r>
          </a:p>
          <a:p xmlns:a="http://schemas.openxmlformats.org/drawingml/2006/main">
            <a:r>
              <a:t>- data/generated_works/moara_cu_noroc/intelegere-opera/manifest.json</a:t>
            </a:r>
          </a:p>
          <a:p xmlns:a="http://schemas.openxmlformats.org/drawingml/2006/main">
            <a:r>
              <a:t>- cercetare-qwen/README.md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Acesta este slide-ul de inventar tehnic; evitați să îl transformați într-o listă de buzzwords.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components/</a:t>
            </a:r>
          </a:p>
          <a:p xmlns:a="http://schemas.openxmlformats.org/drawingml/2006/main">
            <a:r>
              <a:t>- services/</a:t>
            </a:r>
          </a:p>
          <a:p xmlns:a="http://schemas.openxmlformats.org/drawingml/2006/main">
            <a:r>
              <a:t>- services/openrouter_provider.py</a:t>
            </a:r>
          </a:p>
          <a:p xmlns:a="http://schemas.openxmlformats.org/drawingml/2006/main">
            <a:r>
              <a:t>- services/auth_service.py</a:t>
            </a:r>
          </a:p>
          <a:p xmlns:a="http://schemas.openxmlformats.org/drawingml/2006/main">
            <a:r>
              <a:t>- cercetare/experiment2/requirements.txt</a:t>
            </a:r>
          </a:p>
          <a:p xmlns:a="http://schemas.openxmlformats.org/drawingml/2006/main">
            <a:r>
              <a:t>- cercetare/experiment3/rquge_ro/requirements.txt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Prezentați aceste controale ca bază bună pentru pilot; înainte de producție este necesară întărirea secretelor și a operării.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services/openrouter_provider.py</a:t>
            </a:r>
          </a:p>
          <a:p xmlns:a="http://schemas.openxmlformats.org/drawingml/2006/main">
            <a:r>
              <a:t>- services/auth_service.py</a:t>
            </a:r>
          </a:p>
          <a:p xmlns:a="http://schemas.openxmlformats.org/drawingml/2006/main">
            <a:r>
              <a:t>- services/progress_service.py</a:t>
            </a:r>
          </a:p>
          <a:p xmlns:a="http://schemas.openxmlformats.org/drawingml/2006/main">
            <a:r>
              <a:t>- data/generated_works/moara_cu_noroc/manifest.json</a:t>
            </a:r>
          </a:p>
          <a:p xmlns:a="http://schemas.openxmlformats.org/drawingml/2006/main">
            <a:r>
              <a:t>- data/generated_works/moara_cu_noroc/construieste-eseu/manifest.json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Fiți explicit privind maturitatea: RQUGE-Ro este direcție de cercetare, nu funcționalitate validată în producție.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cercetare/experiment1/README.md</a:t>
            </a:r>
          </a:p>
          <a:p xmlns:a="http://schemas.openxmlformats.org/drawingml/2006/main">
            <a:r>
              <a:t>- cercetare/experiment2/README.md</a:t>
            </a:r>
          </a:p>
          <a:p xmlns:a="http://schemas.openxmlformats.org/drawingml/2006/main">
            <a:r>
              <a:t>- cercetare/experiment3/README.md</a:t>
            </a:r>
          </a:p>
          <a:p xmlns:a="http://schemas.openxmlformats.org/drawingml/2006/main">
            <a:r>
              <a:t>- cercetare/experiment3/rquge_ro/requirements.txt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Folosiți acest slide pentru a arăta disciplină experimentală și pentru a evita supra-promisiunea.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cercetare/experiment1/results/rezultate-experiment.csv</a:t>
            </a:r>
          </a:p>
          <a:p xmlns:a="http://schemas.openxmlformats.org/drawingml/2006/main">
            <a:r>
              <a:t>- cercetare/experiment2/results/rezultate-experiment.csv</a:t>
            </a:r>
          </a:p>
          <a:p xmlns:a="http://schemas.openxmlformats.org/drawingml/2006/main">
            <a:r>
              <a:t>- tmp/bacado-management-deck/source-notes.txt (calcule agregate)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Mesajul financiar: costul inferenței offline nu este bariera; bugetul pilotului trebuie să măsoare mai ales QA, operare și chat 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data/generated_works/moara_cu_noroc/cost-report.json</a:t>
            </a:r>
          </a:p>
          <a:p xmlns:a="http://schemas.openxmlformats.org/drawingml/2006/main">
            <a:r>
              <a:t>- data/generated_works/enigma_otiliei/cost-report.json</a:t>
            </a:r>
          </a:p>
          <a:p xmlns:a="http://schemas.openxmlformats.org/drawingml/2006/main">
            <a:r>
              <a:t>- tmp/bacado-management-deck/source-notes.txt (medie, extrapolare și procente)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Aceste beneficii trebuie transformate în KPI de pilot: timp până la primul eseu, completare, revenire, cost/elev și acordul profesorilor.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components/learning_path_ui.py</a:t>
            </a:r>
          </a:p>
          <a:p xmlns:a="http://schemas.openxmlformats.org/drawingml/2006/main">
            <a:r>
              <a:t>- services/progress_service.py</a:t>
            </a:r>
          </a:p>
          <a:p xmlns:a="http://schemas.openxmlformats.org/drawingml/2006/main">
            <a:r>
              <a:t>- scripts/README-creare-opera.md</a:t>
            </a:r>
          </a:p>
          <a:p xmlns:a="http://schemas.openxmlformats.org/drawingml/2006/main">
            <a:r>
              <a:t>- data/generated_works/moara_cu_noroc/manifest.json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 ascundeți riscurile. Managementul trebuie să vadă atât controalele existente, cât și munca necesară înainte de producție.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services/openrouter_provider.py</a:t>
            </a:r>
          </a:p>
          <a:p xmlns:a="http://schemas.openxmlformats.org/drawingml/2006/main">
            <a:r>
              <a:t>- services/auth_service.py</a:t>
            </a:r>
          </a:p>
          <a:p xmlns:a="http://schemas.openxmlformats.org/drawingml/2006/main">
            <a:r>
              <a:t>- cercetare/experiment2/README.md</a:t>
            </a:r>
          </a:p>
          <a:p xmlns:a="http://schemas.openxmlformats.org/drawingml/2006/main">
            <a:r>
              <a:t>- cercetare/experiment3/README.md</a:t>
            </a:r>
          </a:p>
          <a:p xmlns:a="http://schemas.openxmlformats.org/drawingml/2006/main">
            <a:r>
              <a:t>- cercetare-qwen/README.md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Încheiați cu o cerere concretă: pilot, ownership și criterii de trecere la următoarea etapă.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tmp/bacado-management-deck/source-notes.txt</a:t>
            </a:r>
          </a:p>
          <a:p xmlns:a="http://schemas.openxmlformats.org/drawingml/2006/main">
            <a:r>
              <a:t>- assets/bacorado-logo.jpeg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fcdee8f1345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556df498204404" /><Relationship Type="http://schemas.openxmlformats.org/officeDocument/2006/relationships/slideLayout" Target="/ppt/slideLayouts/slideLayout1.xml" Id="R93235427899045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235427899045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a250e2bf542f6" /><Relationship Type="http://schemas.openxmlformats.org/officeDocument/2006/relationships/image" Target="/ppt/media/image.jpeg" Id="Rda505e2e97984440" /><Relationship Type="http://schemas.openxmlformats.org/officeDocument/2006/relationships/notesSlide" Target="/ppt/notesSlides/notesSlide1.xml" Id="R72ce93e0e95748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73d2fc0b432f" /><Relationship Type="http://schemas.openxmlformats.org/officeDocument/2006/relationships/notesSlide" Target="/ppt/notesSlides/notesSlide2.xml" Id="R6364ffc67afb4d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da9d8fea94600" /><Relationship Type="http://schemas.openxmlformats.org/officeDocument/2006/relationships/notesSlide" Target="/ppt/notesSlides/notesSlide3.xml" Id="R0a9daac130ab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cce16356b4444" /><Relationship Type="http://schemas.openxmlformats.org/officeDocument/2006/relationships/notesSlide" Target="/ppt/notesSlides/notesSlide4.xml" Id="R24ce2c77f5f64a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6df5acc34e03" /><Relationship Type="http://schemas.openxmlformats.org/officeDocument/2006/relationships/notesSlide" Target="/ppt/notesSlides/notesSlide5.xml" Id="Rc6889e89e3e94a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0761f53bd4e02" /><Relationship Type="http://schemas.openxmlformats.org/officeDocument/2006/relationships/notesSlide" Target="/ppt/notesSlides/notesSlide6.xml" Id="R447f43fbc20148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4f2dacb794029" /><Relationship Type="http://schemas.openxmlformats.org/officeDocument/2006/relationships/notesSlide" Target="/ppt/notesSlides/notesSlide7.xml" Id="Rdf01a83e67564e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5dbdc503b4a2d" /><Relationship Type="http://schemas.openxmlformats.org/officeDocument/2006/relationships/notesSlide" Target="/ppt/notesSlides/notesSlide8.xml" Id="R3f150726438f4e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df2b0a3cc40e0" /><Relationship Type="http://schemas.openxmlformats.org/officeDocument/2006/relationships/notesSlide" Target="/ppt/notesSlides/notesSlide9.xml" Id="R94fc7a0fc10f4d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fa4d5f60244cd" /><Relationship Type="http://schemas.openxmlformats.org/officeDocument/2006/relationships/chart" Target="/ppt/slides/charts/chart1.xml" Id="R531a5de0dbc342b6" /><Relationship Type="http://schemas.openxmlformats.org/officeDocument/2006/relationships/notesSlide" Target="/ppt/notesSlides/notesSlide10.xml" Id="R2705bfe5cb284c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22b3451cd4af4" /><Relationship Type="http://schemas.openxmlformats.org/officeDocument/2006/relationships/chart" Target="/ppt/slides/charts/chart2.xml" Id="R08aaefa1f52546bb" /><Relationship Type="http://schemas.openxmlformats.org/officeDocument/2006/relationships/notesSlide" Target="/ppt/notesSlides/notesSlide11.xml" Id="Rbf952b58c8344f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7260e39794ba0" /><Relationship Type="http://schemas.openxmlformats.org/officeDocument/2006/relationships/notesSlide" Target="/ppt/notesSlides/notesSlide12.xml" Id="R2637123fd68a4a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341cce0544f34" /><Relationship Type="http://schemas.openxmlformats.org/officeDocument/2006/relationships/notesSlide" Target="/ppt/notesSlides/notesSlide13.xml" Id="R9079cc8f961044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0ec7564514a67" /><Relationship Type="http://schemas.openxmlformats.org/officeDocument/2006/relationships/image" Target="/ppt/media/image2.jpeg" Id="Rdaafddbf2ed94a03" /><Relationship Type="http://schemas.openxmlformats.org/officeDocument/2006/relationships/notesSlide" Target="/ppt/notesSlides/notesSlide14.xml" Id="R6b72d12faa86499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Scor general</c:v>
          </c:tx>
          <c:spPr>
            <a:solidFill xmlns:a="http://schemas.openxmlformats.org/drawingml/2006/main">
              <a:srgbClr val="0FA7A0"/>
            </a:solidFill>
          </c:spPr>
          <c:cat>
            <c:strLit>
              <c:ptCount val="2"/>
              <c:pt idx="0">
                <c:v>Experiment 1</c:v>
              </c:pt>
              <c:pt idx="1">
                <c:v>Experiment 2</c:v>
              </c:pt>
            </c:strLit>
          </c:cat>
          <c:val>
            <c:numLit>
              <c:formatCode>General</c:formatCode>
              <c:ptCount val="2"/>
              <c:pt idx="0">
                <c:v>89.215</c:v>
              </c:pt>
              <c:pt idx="1">
                <c:v>90.424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cenți USD</c:v>
          </c:tx>
          <c:spPr>
            <a:solidFill xmlns:a="http://schemas.openxmlformats.org/drawingml/2006/main">
              <a:srgbClr val="EC6B58"/>
            </a:solidFill>
          </c:spPr>
          <c:cat>
            <c:strLit>
              <c:ptCount val="2"/>
              <c:pt idx="0">
                <c:v>Moara cu noroc</c:v>
              </c:pt>
              <c:pt idx="1">
                <c:v>Enigma Otiliei</c:v>
              </c:pt>
            </c:strLit>
          </c:cat>
          <c:val>
            <c:numLit>
              <c:formatCode>General</c:formatCode>
              <c:ptCount val="2"/>
              <c:pt idx="0">
                <c:v>9.236378</c:v>
              </c:pt>
              <c:pt idx="1">
                <c:v>9.741796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AD0DB-3EB7-4002-BE76-AD248EB4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DDDFE-D1A4-4BAF-A4A1-3C19619C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47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EB62"/>
          </a:solidFill>
          <a:ln xmlns:a="http://schemas.openxmlformats.org/drawingml/2006/main" w="0">
            <a:solidFill>
              <a:srgbClr val="CDEB6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46197-BBB0-4B03-9312-AD46875D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DEB62"/>
                </a:solidFill>
              </a:defRPr>
            </a:pPr>
            <a:r>
              <a:rPr sz="1125" b="1" i="0">
                <a:solidFill>
                  <a:srgbClr val="CDEB62"/>
                </a:solidFill>
              </a:rPr>
              <a:t>BACADO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B96AD-908B-4DD1-AD10-11A824D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810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Pregătirea pentru BAC,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transformată într-un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traseu verificabil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F15F9-9CD5-439F-9458-B24B80D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E4E0"/>
                </a:solidFill>
              </a:defRPr>
            </a:pPr>
            <a:r>
              <a:rPr sz="1575" b="0" i="0">
                <a:solidFill>
                  <a:srgbClr val="D6E4E0"/>
                </a:solidFill>
              </a:rPr>
              <a:t>Platformă educațională cu knowledge graph, conținut generat controlat și profesor 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617F1-4700-4DDE-A748-B37A1A7A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FB5AF"/>
                </a:solidFill>
              </a:defRPr>
            </a:pPr>
            <a:r>
              <a:rPr sz="975" b="1" i="0">
                <a:solidFill>
                  <a:srgbClr val="9FB5AF"/>
                </a:solidFill>
              </a:rPr>
              <a:t>Prezentare executivă &amp; tehnică  •  23 august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34BB9-5BA3-4348-835F-271B1E7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4000500" cy="51054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05e2e97984440"/>
          <a:stretch xmlns:a="http://schemas.openxmlformats.org/drawingml/2006/main"/>
        </p:blipFill>
        <p:spPr>
          <a:xfrm xmlns:a="http://schemas.openxmlformats.org/drawingml/2006/main">
            <a:off x="7753350" y="1562100"/>
            <a:ext cx="3543300" cy="35433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</p:spTree>
    <p:extLst>
      <p:ext uri="{BB962C8B-B14F-4D97-AF65-F5344CB8AC3E}">
        <p14:creationId xmlns:p14="http://schemas.microsoft.com/office/powerpoint/2010/main" val="1628847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8645CE-2C6E-4759-A856-D52EFD72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REZUMAT EXECUTIV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89C83-61C9-430D-A4A0-3FC51C0D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01 / PRODUS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86686-809E-4DE4-9312-5B1018D4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Bacado transformă fiecare operă într-un produs educațional complet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45348-061D-43F7-A6C2-9B91DF1A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O singură bază factuală alimentează învățarea, evaluarea și construirea eseului.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037B4-64D8-4127-9BDA-958912FE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3812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35540-1E6A-4188-9555-97D21927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DB832-5417-49F3-834F-F9079CD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C201D"/>
                </a:solidFill>
              </a:defRPr>
            </a:pPr>
            <a:r>
              <a:rPr sz="2400" b="1" i="0">
                <a:solidFill>
                  <a:srgbClr val="0C201D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9E4A2-56B2-4B3C-9426-49BF218C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0645F"/>
                </a:solidFill>
              </a:defRPr>
            </a:pPr>
            <a:r>
              <a:rPr sz="1125" b="0" i="0">
                <a:solidFill>
                  <a:srgbClr val="50645F"/>
                </a:solidFill>
              </a:rPr>
              <a:t>opere disponibile în aplicație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6F209-E9BF-446B-8385-DA963563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812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6BB12-3C70-4769-9FE9-E756EAB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83D5"/>
          </a:solidFill>
          <a:ln xmlns:a="http://schemas.openxmlformats.org/drawingml/2006/main" w="0">
            <a:solidFill>
              <a:srgbClr val="4B8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89B09-305E-4BC5-AE99-DCCE11F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C201D"/>
                </a:solidFill>
              </a:defRPr>
            </a:pPr>
            <a:r>
              <a:rPr sz="2400" b="1" i="0">
                <a:solidFill>
                  <a:srgbClr val="0C201D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D028B-5CB2-40F7-98AD-49B1AC5A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0645F"/>
                </a:solidFill>
              </a:defRPr>
            </a:pPr>
            <a:r>
              <a:rPr sz="1125" b="0" i="0">
                <a:solidFill>
                  <a:srgbClr val="50645F"/>
                </a:solidFill>
              </a:rPr>
              <a:t>formate de testare rapidă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A096E-8127-4D9E-84A6-EB0C0CA6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25908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0815C-C495-42F4-ADBC-1C076A60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83A"/>
          </a:solidFill>
          <a:ln xmlns:a="http://schemas.openxmlformats.org/drawingml/2006/main" w="0">
            <a:solidFill>
              <a:srgbClr val="F4A8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8B166-9922-4545-AB21-B32175E1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2209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C201D"/>
                </a:solidFill>
              </a:defRPr>
            </a:pPr>
            <a:r>
              <a:rPr sz="2400" b="1" i="0">
                <a:solidFill>
                  <a:srgbClr val="0C201D"/>
                </a:solidFill>
              </a:rPr>
              <a:t>55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8BF5D-F863-4F29-88EB-6838C201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0645F"/>
                </a:solidFill>
              </a:defRPr>
            </a:pPr>
            <a:r>
              <a:rPr sz="1125" b="0" i="0">
                <a:solidFill>
                  <a:srgbClr val="50645F"/>
                </a:solidFill>
              </a:rPr>
              <a:t>apeluri AI în pipeline-ul Moara cu noroc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1554B-6373-49C7-AB7B-B02E7322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3105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8D693-D455-462E-8F99-29558D42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6B58"/>
          </a:solidFill>
          <a:ln xmlns:a="http://schemas.openxmlformats.org/drawingml/2006/main" w="0">
            <a:solidFill>
              <a:srgbClr val="EC6B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F87F4-81FA-46F0-8CB8-BAC85E14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C201D"/>
                </a:solidFill>
              </a:defRPr>
            </a:pPr>
            <a:r>
              <a:rPr sz="2400" b="1" i="0">
                <a:solidFill>
                  <a:srgbClr val="0C201D"/>
                </a:solidFill>
              </a:rPr>
              <a:t>$0,092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6F4C3-94D7-4945-9366-ED46ACA0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717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0645F"/>
                </a:solidFill>
              </a:defRPr>
            </a:pPr>
            <a:r>
              <a:rPr sz="1125" b="0" i="0">
                <a:solidFill>
                  <a:srgbClr val="50645F"/>
                </a:solidFill>
              </a:rPr>
              <a:t>cost AI măsurat / Moara cu noroc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D6A98-6FF1-4598-A941-B0DD2B85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4F79D-B64A-4C1F-B61B-7BAD536A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C201D"/>
                </a:solidFill>
              </a:defRPr>
            </a:pPr>
            <a:r>
              <a:rPr sz="1725" b="1" i="0">
                <a:solidFill>
                  <a:srgbClr val="0C201D"/>
                </a:solidFill>
              </a:rPr>
              <a:t>De ce merită continuat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E8B7D-95AB-422C-8FEA-FC6195F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268D0-0517-40BF-ADCD-ACB8BF7C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Reutilizare: același knowledge graph susține rezumate, exerciții și eseu.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2CB67E-C879-4037-9A17-4382DE63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140E7-A230-4092-8EE4-CA2D263A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Control: validatoare locale, hash-uri și artefacte auditabile reduc riscul factual.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98AD55-E184-4884-9A56-D247502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862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865BC-78B3-49B6-BDE2-D284EC66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Scalare: costul marginal de generare este mic; efortul critic rămâne QA-ul didactic.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CBBA75-AD82-434B-9FF7-9BC9BB3E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148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BA6A1-33E1-4146-AEB3-DB200B4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2440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Diferențiere: elevul trece de la citire la practică și redactare asistată în același flux.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CB2CA-46D4-42A9-A1E3-19E78684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B146D6-7BBD-46AF-87CF-753733B5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85248E-B6BE-4C52-87D3-FF3C42C6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0926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7AF18-039B-44DC-9E03-25584DF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EXPERIENȚA ELEVULUI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2ACAA-E5D2-4E6F-9EFA-CC85AC73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02 / FLUX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99535-E9A5-4E38-9196-10EB5FF2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Un traseu simplu: înțelegere → practică → argumentare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C6611-E5C1-4E7B-9ED7-20F114E9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Progresul și materialele salvate rămân asociate contului elevului.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2A611-02A5-4FAA-A12C-78C9C051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766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C55BA-9A3F-47E7-9570-6290A7BD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15F6D-8197-4ED5-BF3E-B4B90C35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EBDF3-6B35-4728-9A01-27810331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01D"/>
                </a:solidFill>
              </a:defRPr>
            </a:pPr>
            <a:r>
              <a:rPr sz="1575" b="1" i="0">
                <a:solidFill>
                  <a:srgbClr val="0C201D"/>
                </a:solidFill>
              </a:rPr>
              <a:t>Înțelege opera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C0610-9567-49B3-97C0-D7171D11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Rezumate pe capitole, personaje, relații, curent literar, secvențe relevante și elemente compoziționale.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8BCA1-785C-4AFB-A0B7-7D5C9B17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C77"/>
                </a:solidFill>
              </a:defRPr>
            </a:pPr>
            <a:r>
              <a:rPr sz="285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98BE8-41CA-47AD-B4C2-801DCCA6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38350"/>
            <a:ext cx="32766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A7EB5-7E21-4662-98E3-99939AFD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B83D5"/>
          </a:solidFill>
          <a:ln xmlns:a="http://schemas.openxmlformats.org/drawingml/2006/main" w="0">
            <a:solidFill>
              <a:srgbClr val="4B8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13DD8-EF49-42A0-8EBC-C647135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F731A-B1CF-4D42-B297-7A820DC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01D"/>
                </a:solidFill>
              </a:defRPr>
            </a:pPr>
            <a:r>
              <a:rPr sz="1575" b="1" i="0">
                <a:solidFill>
                  <a:srgbClr val="0C201D"/>
                </a:solidFill>
              </a:rPr>
              <a:t>Testare rapidă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12C35-E4E6-4CE6-B3B8-D7881CE5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Flashcarduri, grile, cronologii, completări și asocieri, cu progres urmărit pe utilizator.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17465-AE4C-4631-B529-75029B8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C77"/>
                </a:solidFill>
              </a:defRPr>
            </a:pPr>
            <a:r>
              <a:rPr sz="285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03F07-3283-4767-8436-5B7E0BA9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32766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02648-205B-4AF0-87C6-854F48E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6B58"/>
          </a:solidFill>
          <a:ln xmlns:a="http://schemas.openxmlformats.org/drawingml/2006/main" w="0">
            <a:solidFill>
              <a:srgbClr val="EC6B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B68A8-02A9-47EF-AF64-B7B99490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145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3E15A-C79E-41C2-8763-E954482D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01D"/>
                </a:solidFill>
              </a:defRPr>
            </a:pPr>
            <a:r>
              <a:rPr sz="1575" b="1" i="0">
                <a:solidFill>
                  <a:srgbClr val="0C201D"/>
                </a:solidFill>
              </a:rPr>
              <a:t>Construiește eseul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A374A-BBC9-491E-BD3E-E9A45DC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Diagramă de idei, paragrafe de până la 2.000 de caractere, citate transferate automat și feedback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98A76-7818-463C-9024-3AC0ED11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C5BEB-8191-4AC9-AAA3-E4A90436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Profesorul AI este stratul de ghidare — nu sursa unică de adevăr.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34F08-5909-41C9-B049-6E52BD1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FE0DC"/>
                </a:solidFill>
              </a:defRPr>
            </a:pPr>
            <a:r>
              <a:rPr sz="1200" b="0" i="0">
                <a:solidFill>
                  <a:srgbClr val="CFE0DC"/>
                </a:solidFill>
              </a:rPr>
              <a:t>Contextul educațional provine din artefactele operei; animația de procesare face așteptarea vizibilă, iar răspunsurile sunt calibrate pentru sarcina curentă.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7A833-3FD8-4B8A-89CE-AB9F3E1C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5DA5A-6B74-48B8-8AFE-0B951FF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ACA33-3BFE-426C-9E93-95834203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6990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59D38-441D-4025-A9B1-F1A04F78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PROFUNZIMEA PRODUSULUI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50503-A04C-48D4-861B-E4CCBE2F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03 / CONȚINUT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7C65C-90DC-4F7F-BBC3-E76C5D59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Exemplu concret: Moara cu noroc, pachet educațional complet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13418-96C1-4C6D-BDBE-2F77125D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Conținutul nu se limitează la un rezumat sau la un chatbot generic.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B0398-FC56-4158-9D90-93BF4F24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7DEE6-5395-445B-895F-8E44C2CE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DEB62"/>
                </a:solidFill>
              </a:defRPr>
            </a:pPr>
            <a:r>
              <a:rPr sz="900" b="1" i="0">
                <a:solidFill>
                  <a:srgbClr val="CDEB62"/>
                </a:solidFill>
              </a:rPr>
              <a:t>ÎNȚELEGERE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751BB-F2B8-4DE0-84A5-F77F409E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17 capitole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5B496-A494-46FC-B803-FF818CE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962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6E4E0"/>
                </a:solidFill>
              </a:defRPr>
            </a:pPr>
            <a:r>
              <a:rPr sz="1350" b="0" i="0">
                <a:solidFill>
                  <a:srgbClr val="D6E4E0"/>
                </a:solidFill>
              </a:rPr>
              <a:t>Rezumate protejate de sursă, hărți de personaje, secvențe, curent literar și elemente compoziționale.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CC995-DA86-4FA2-A95C-E2DD17E7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114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04A"/>
          </a:solidFill>
          <a:ln xmlns:a="http://schemas.openxmlformats.org/drawingml/2006/main" w="0">
            <a:solidFill>
              <a:srgbClr val="345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1CA79-A592-4D01-9669-D2B63955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396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Eseul respectă strict trăsăturile dezvoltate în modelul profesorului și verifică fragmentele-sursă.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0E516-8174-42F4-B990-939FBAC0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56769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5AB40-33E7-43DD-9A66-FAF7C0CD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TESTARE RAPIDĂ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B6F2C-1C0D-4C3B-8303-25760B70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2324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93A36-341F-4DCF-BBFE-926E0698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527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FA7A0"/>
                </a:solidFill>
              </a:defRPr>
            </a:pPr>
            <a:r>
              <a:rPr sz="2025" b="1" i="0">
                <a:solidFill>
                  <a:srgbClr val="0FA7A0"/>
                </a:solidFill>
              </a:rPr>
              <a:t>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E776D-7C0C-4E21-A7E6-8F59772A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194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C201D"/>
                </a:solidFill>
              </a:defRPr>
            </a:pPr>
            <a:r>
              <a:rPr sz="1125" b="1" i="0">
                <a:solidFill>
                  <a:srgbClr val="0C201D"/>
                </a:solidFill>
              </a:rPr>
              <a:t>flashcarduri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92E3B-D414-47F6-966E-87AD68AC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28900"/>
            <a:ext cx="2324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700DC-EA38-41A7-B8C0-FD6DC44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527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B83D5"/>
                </a:solidFill>
              </a:defRPr>
            </a:pPr>
            <a:r>
              <a:rPr sz="2025" b="1" i="0">
                <a:solidFill>
                  <a:srgbClr val="4B83D5"/>
                </a:solidFill>
              </a:rPr>
              <a:t>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CAD19-E3BD-4510-B076-ACF90B56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C201D"/>
                </a:solidFill>
              </a:defRPr>
            </a:pPr>
            <a:r>
              <a:rPr sz="1125" b="1" i="0">
                <a:solidFill>
                  <a:srgbClr val="0C201D"/>
                </a:solidFill>
              </a:rPr>
              <a:t>grile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5F76E-9850-4197-BBC7-A9E165E1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2324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15F50-9095-45C7-A456-62F8AF8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671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4A83A"/>
                </a:solidFill>
              </a:defRPr>
            </a:pPr>
            <a:r>
              <a:rPr sz="2025" b="1" i="0">
                <a:solidFill>
                  <a:srgbClr val="F4A83A"/>
                </a:solidFill>
              </a:rPr>
              <a:t>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5B250-A8FC-49F1-9D7F-64B0EAE1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C201D"/>
                </a:solidFill>
              </a:defRPr>
            </a:pPr>
            <a:r>
              <a:rPr sz="1125" b="1" i="0">
                <a:solidFill>
                  <a:srgbClr val="0C201D"/>
                </a:solidFill>
              </a:rPr>
              <a:t>cronologii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205EE-2036-4584-8561-4C16F48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43300"/>
            <a:ext cx="2324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C30AB-78AA-4037-BDD8-192040C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671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C6B58"/>
                </a:solidFill>
              </a:defRPr>
            </a:pPr>
            <a:r>
              <a:rPr sz="2025" b="1" i="0">
                <a:solidFill>
                  <a:srgbClr val="EC6B58"/>
                </a:solidFill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4B969-DB66-4AFC-8E2B-180AE6D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338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C201D"/>
                </a:solidFill>
              </a:defRPr>
            </a:pPr>
            <a:r>
              <a:rPr sz="1125" b="1" i="0">
                <a:solidFill>
                  <a:srgbClr val="0C201D"/>
                </a:solidFill>
              </a:rPr>
              <a:t>completări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17A51-CDAD-410C-804E-A1A3948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324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971F49-60D7-4FEE-A371-28F271B7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815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76912A"/>
                </a:solidFill>
              </a:defRPr>
            </a:pPr>
            <a:r>
              <a:rPr sz="2025" b="1" i="0">
                <a:solidFill>
                  <a:srgbClr val="76912A"/>
                </a:solidFill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F12F5-E24D-449B-8C8F-92912A83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48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C201D"/>
                </a:solidFill>
              </a:defRPr>
            </a:pPr>
            <a:r>
              <a:rPr sz="1125" b="1" i="0">
                <a:solidFill>
                  <a:srgbClr val="0C201D"/>
                </a:solidFill>
              </a:rPr>
              <a:t>seturi de asociere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CCB81-AFDA-4CDD-A4A9-B7B7C37D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0645F"/>
                </a:solidFill>
              </a:defRPr>
            </a:pPr>
            <a:r>
              <a:rPr sz="975" b="0" i="0">
                <a:solidFill>
                  <a:srgbClr val="50645F"/>
                </a:solidFill>
              </a:rPr>
              <a:t>+ 48 perechi în seturile de asociere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76648-EBCB-485E-AA17-9C15F4B7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2B177-A906-4248-ADBC-6F6DFAF5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1EB497-F27E-4E99-864C-6A1E2699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5804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BEA6AF-E84C-409D-8FC4-9652938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ARHITECTURA CONȚINUTULUI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37837-CB2A-479F-B233-3A30D33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04 /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7A160-F98C-4D9E-B324-0FF30234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Din PDF și eseu-model până la materiale publicabile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21890-57E0-4D21-B52C-604521B9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Pipeline-ul este reluabil, validat local și păstrează fiecare rezultat intermediar.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E8F1C-FE12-41FD-B289-81337866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809750" cy="22479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97273-5951-420B-A99B-4F609A1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201D"/>
                </a:solidFill>
              </a:defRPr>
            </a:pPr>
            <a:r>
              <a:rPr sz="975" b="1" i="0">
                <a:solidFill>
                  <a:srgbClr val="0C201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E242B-8F36-4DA1-AC34-097C2E3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01D"/>
                </a:solidFill>
              </a:defRPr>
            </a:pPr>
            <a:r>
              <a:rPr sz="1500" b="1" i="0">
                <a:solidFill>
                  <a:srgbClr val="0C201D"/>
                </a:solidFill>
              </a:rPr>
              <a:t>Surse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0E2BF-E4EA-40C8-8CAF-4D7AAFF2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PDF integral</a:t>
            </a:r>
          </a:p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Eseu-model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673CE-C6DD-470E-B4D8-EEAD1523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051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87C77"/>
                </a:solidFill>
              </a:defRPr>
            </a:pPr>
            <a:r>
              <a:rPr sz="210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5F872-27A5-4147-8275-314F36AB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24100"/>
            <a:ext cx="1809750" cy="22479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7AF98-4783-458D-95B5-AC1EEF1C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14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7C77"/>
                </a:solidFill>
              </a:defRPr>
            </a:pPr>
            <a:r>
              <a:rPr sz="975" b="1" i="0">
                <a:solidFill>
                  <a:srgbClr val="087C7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E3EB0-270C-4616-98FC-DD77C0CA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01D"/>
                </a:solidFill>
              </a:defRPr>
            </a:pPr>
            <a:r>
              <a:rPr sz="1500" b="1" i="0">
                <a:solidFill>
                  <a:srgbClr val="0C201D"/>
                </a:solidFill>
              </a:rPr>
              <a:t>Knowledge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CD61D-B352-452D-A8E1-09A4AEAF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evenimente • relații</a:t>
            </a:r>
          </a:p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evidențe • literar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E2F81-8E2D-4252-9E89-0B256058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87C77"/>
                </a:solidFill>
              </a:defRPr>
            </a:pPr>
            <a:r>
              <a:rPr sz="210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A5DA0-8C36-444A-9240-969A8FC8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1809750" cy="22479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CA669-EA65-4F4D-A063-7730EC9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14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B83D5"/>
                </a:solidFill>
              </a:defRPr>
            </a:pPr>
            <a:r>
              <a:rPr sz="975" b="1" i="0">
                <a:solidFill>
                  <a:srgbClr val="4B83D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3A20A-47A0-4DDF-ACC6-D535FB89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01D"/>
                </a:solidFill>
              </a:defRPr>
            </a:pPr>
            <a:r>
              <a:rPr sz="1500" b="1" i="0">
                <a:solidFill>
                  <a:srgbClr val="0C201D"/>
                </a:solidFill>
              </a:rPr>
              <a:t>Generare Qwen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8F8A1-56F0-4FCC-92D3-27EDDB14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195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pachete fixe</a:t>
            </a:r>
          </a:p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reasoning medium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BA519-C6C4-4BFD-8144-1CA63C7D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87C77"/>
                </a:solidFill>
              </a:defRPr>
            </a:pPr>
            <a:r>
              <a:rPr sz="210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FFBC2-C909-48A1-B540-8B8E3F2D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1809750" cy="22479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4C2D9-B410-4957-8CC2-E9411933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14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A83A"/>
                </a:solidFill>
              </a:defRPr>
            </a:pPr>
            <a:r>
              <a:rPr sz="975" b="1" i="0">
                <a:solidFill>
                  <a:srgbClr val="F4A83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DF7C6-2AED-467B-8FC4-1B103204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146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01D"/>
                </a:solidFill>
              </a:defRPr>
            </a:pPr>
            <a:r>
              <a:rPr sz="1500" b="1" i="0">
                <a:solidFill>
                  <a:srgbClr val="0C201D"/>
                </a:solidFill>
              </a:rPr>
              <a:t>Validare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BD0F1-3809-4F2E-8A1B-816C7A59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195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scheme • reguli</a:t>
            </a:r>
          </a:p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hash-uri •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AAB2A2-AA35-42E8-A294-55D3809A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87C77"/>
                </a:solidFill>
              </a:defRPr>
            </a:pPr>
            <a:r>
              <a:rPr sz="210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23202-1394-418F-8BDD-F633F430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1809750" cy="22479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10EBB-FB3E-4812-B0B9-3EFA50A7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C6B58"/>
                </a:solidFill>
              </a:defRPr>
            </a:pPr>
            <a:r>
              <a:rPr sz="975" b="1" i="0">
                <a:solidFill>
                  <a:srgbClr val="EC6B58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B13206-CF90-452F-B2A5-3716BFA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C201D"/>
                </a:solidFill>
              </a:defRPr>
            </a:pPr>
            <a:r>
              <a:rPr sz="1500" b="1" i="0">
                <a:solidFill>
                  <a:srgbClr val="0C201D"/>
                </a:solidFill>
              </a:rPr>
              <a:t>Publicare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D1917-8A49-4F0B-99F7-626E9EF9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înțelegere • teste</a:t>
            </a:r>
          </a:p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eseu • registru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8C88F-AA91-4BD8-A771-5EB7B67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203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solidFill>
              <a:srgbClr val="DDF6F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A713E-5D2F-4C07-A6C8-F0ABA203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C77"/>
                </a:solidFill>
              </a:defRPr>
            </a:pPr>
            <a:r>
              <a:rPr sz="1200" b="1" i="0">
                <a:solidFill>
                  <a:srgbClr val="087C77"/>
                </a:solidFill>
              </a:rPr>
              <a:t>Sursa nu este rescrisă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2BA744-E893-42AE-903F-D39E85A1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735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Hash-urile detectează schimbările, rulările pot fi reluate, iar artefactele deja valide pot fi reutilizate fără cost suplimentar.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98667-B92A-4593-925E-6D0AD161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FF9B9-17C5-4C3E-8067-751464CD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A29FDC-A430-41E2-AA0F-61C1B56E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8621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529652-AE86-4B39-A1AF-89226C7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NUCLEUL DIFERENȚIATOR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556CF-C118-419B-8AAD-BC011458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05 / KNOWLEDGE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C0EAE-985B-4A40-A264-7640780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Knowledge graph-ul este contractul factual al produsului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65C71-641F-484F-A96D-A7016683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Leagă conținutul educațional de personaje, evenimente, relații, cronologie și dovezi din operă.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821E9-CA3F-4A51-AAEF-38F3DB68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61975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5B178-D236-4BA9-AEC7-36A56C2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DEB62"/>
                </a:solidFill>
              </a:defRPr>
            </a:pPr>
            <a:r>
              <a:rPr sz="900" b="1" i="0">
                <a:solidFill>
                  <a:srgbClr val="CDEB62"/>
                </a:solidFill>
              </a:rPr>
              <a:t>MOARA CU NOROC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37A4C-7721-41F8-8F99-A5F45633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48000"/>
            <a:ext cx="21336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3763C-7FB9-4E26-B2B5-95F526F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OPERĂ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F511D-F119-4C8A-B942-2884B822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2001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3A34"/>
          </a:solidFill>
          <a:ln xmlns:a="http://schemas.openxmlformats.org/drawingml/2006/main" w="9525">
            <a:solidFill>
              <a:srgbClr val="4C6C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2F9CC-50D3-410F-827F-F75B673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personaje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459AB-B7FE-49C1-91BF-99E2857C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238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3A34"/>
          </a:solidFill>
          <a:ln xmlns:a="http://schemas.openxmlformats.org/drawingml/2006/main" w="9525">
            <a:solidFill>
              <a:srgbClr val="4C6C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8F534-DC22-4335-B971-68A95AF0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33675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evenimente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FF056-3EFD-4F11-89BE-E97A0AD7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295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3A34"/>
          </a:solidFill>
          <a:ln xmlns:a="http://schemas.openxmlformats.org/drawingml/2006/main" w="9525">
            <a:solidFill>
              <a:srgbClr val="4C6C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1CBEA-A2C9-4958-A12D-6E9FEAE8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curent literar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64988-2DDA-4723-92C2-F73B6499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0050"/>
            <a:ext cx="1295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3A34"/>
          </a:solidFill>
          <a:ln xmlns:a="http://schemas.openxmlformats.org/drawingml/2006/main" w="9525">
            <a:solidFill>
              <a:srgbClr val="4C6C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E903D-3EF0-4CCD-B4DC-2EB0515B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719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compoziție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240F2-894C-4065-9EA7-71298D24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95850"/>
            <a:ext cx="1371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3A34"/>
          </a:solidFill>
          <a:ln xmlns:a="http://schemas.openxmlformats.org/drawingml/2006/main" w="9525">
            <a:solidFill>
              <a:srgbClr val="4C6C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CA0E8-78C9-4E24-B0AF-8545001B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5777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evidențe 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CF899-52BF-4A62-9994-5B440E6F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57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DEB62"/>
                </a:solidFill>
              </a:defRPr>
            </a:pPr>
            <a:r>
              <a:rPr sz="1800" b="0" i="0">
                <a:solidFill>
                  <a:srgbClr val="CDEB62"/>
                </a:solidFill>
              </a:rPr>
              <a:t>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B404A-E328-47ED-9D94-4D6C689D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DEB62"/>
                </a:solidFill>
              </a:defRPr>
            </a:pPr>
            <a:r>
              <a:rPr sz="1800" b="0" i="0">
                <a:solidFill>
                  <a:srgbClr val="CDEB62"/>
                </a:solidFill>
              </a:rPr>
              <a:t>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4B472-E0E2-431D-A656-996F8204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90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DEB62"/>
                </a:solidFill>
              </a:defRPr>
            </a:pPr>
            <a:r>
              <a:rPr sz="1800" b="0" i="0">
                <a:solidFill>
                  <a:srgbClr val="CDEB62"/>
                </a:solidFill>
              </a:rPr>
              <a:t>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9597F-BE16-4FE0-AAFC-54F9DBCA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DEB62"/>
                </a:solidFill>
              </a:defRPr>
            </a:pPr>
            <a:r>
              <a:rPr sz="1800" b="0" i="0">
                <a:solidFill>
                  <a:srgbClr val="CDEB62"/>
                </a:solidFill>
              </a:rPr>
              <a:t>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E5FBE-C98F-418F-A485-2C6355BE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CDEB62"/>
                </a:solidFill>
              </a:defRPr>
            </a:pPr>
            <a:r>
              <a:rPr sz="1950" b="0" i="0">
                <a:solidFill>
                  <a:srgbClr val="CDEB62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29C99-1B73-42DF-A2F3-23576A3E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501015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95795-7F9E-40EF-88A7-82410020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C201D"/>
                </a:solidFill>
              </a:defRPr>
            </a:pPr>
            <a:r>
              <a:rPr sz="1800" b="1" i="0">
                <a:solidFill>
                  <a:srgbClr val="0C201D"/>
                </a:solidFill>
              </a:rPr>
              <a:t>Ce câștigăm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AFEB7-CFD2-4362-8F6D-D657EDEF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70024-0712-4409-BB10-26A6FE38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4038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Autosuficiență: aplicația poate răspunde din structura operei, nu din memoria generică a modelului.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B7D1E-E26D-4A37-8D49-C0459AD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528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881F6-DFC2-470E-923D-E5CB2B8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403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Trasabilitate: evenimentele pot include pagină, locator și fragment de evidență.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67C96-2854-4662-9913-9194C51F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767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34BBDE-1428-40F5-822B-F75B652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403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Coerență: aceleași entități sunt reutilizate în rezumate, exerciții și eseu.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9392A7-4179-40A6-8E64-D08AA51F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FA7A0"/>
                </a:solidFill>
              </a:defRPr>
            </a:pPr>
            <a:r>
              <a:rPr sz="1275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26F7E-C78E-4796-AD20-B3CC7A11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0150"/>
            <a:ext cx="403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Extensibilitate: noduri dedicate curentului literar și elementelor compoziționale.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00AEA6-FC9A-452B-88BB-ECB6ECB9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187976-C40E-45BB-8DEA-C797187E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F2453D-2F54-4BEC-BA06-3DBDC568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5124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E346FC-AA97-4CB3-B1CC-D7D73B05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STACK TEHNOLOGIC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7870E-707E-4965-BFC3-7C37B71E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06 / IMPLEMENTARE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2759A-293D-4167-B3C2-B114FE44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Tehnologii pragmatice, cu separare clară între UI, servicii, date și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FF24E-7330-41CD-8335-58018F1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Componentele sunt în mare parte Python; interacțiunile bogate folosesc HTML/JavaScript în Streamlit.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87B27-868B-4CE5-8269-98EDA668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87C77"/>
          </a:solidFill>
          <a:ln xmlns:a="http://schemas.openxmlformats.org/drawingml/2006/main" w="0">
            <a:solidFill>
              <a:srgbClr val="087C7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84C26-3499-4344-8AC5-955D3307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669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Interfață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CCC8D-9D20-4C0D-BF3C-38F5775D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Streamlit + componente HTML/JavaScript pentru hărți, exerciții și adnotări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65B1D-D02C-43FF-B149-3D79533E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B83D5"/>
          </a:solidFill>
          <a:ln xmlns:a="http://schemas.openxmlformats.org/drawingml/2006/main" w="0">
            <a:solidFill>
              <a:srgbClr val="4B8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09991-6695-40E5-A79B-A3E5646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Aplicație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99054-9DAF-46CA-8559-A0C16CA0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384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Python: pagini, servicii, pipeline-uri deterministe și validatoare locale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8C605-2C82-47F1-BB76-5E77501C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C4FA7-FF0A-428F-AAFA-85B2E9B1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65E18-59C1-4326-B978-5A6EE542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289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JSON/Markdown pentru artefacte; SQLite pentru utilizatori, progres, notițe și eseuri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03E4A-C33E-4BE0-A382-C7E377B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C6B58"/>
          </a:solidFill>
          <a:ln xmlns:a="http://schemas.openxmlformats.org/drawingml/2006/main" w="0">
            <a:solidFill>
              <a:srgbClr val="EC6B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8505D-A6FA-45CC-9EB9-CDD722D9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AI online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EE027-40BD-4B6A-82DE-EBB5FB3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95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OpenRouter Chat Completions + qwen/qwen3.7-flash, răspuns text sau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EE71-52BF-4BBA-B887-43ACFBDB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A83A"/>
          </a:solidFill>
          <a:ln xmlns:a="http://schemas.openxmlformats.org/drawingml/2006/main" w="0">
            <a:solidFill>
              <a:srgbClr val="F4A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F2306-687E-4340-9BAE-E5B1C827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Cercetare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EA89D-6D1D-4033-86D5-E03C111C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00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Sentence Transformers + PyTorch; Transformers/PEFT/LoRA în prototipul RQUGE-Ro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ED058-A92D-4598-98CB-19766D4F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4668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6912A"/>
          </a:solidFill>
          <a:ln xmlns:a="http://schemas.openxmlformats.org/drawingml/2006/main" w="0">
            <a:solidFill>
              <a:srgbClr val="7691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4649A-EEBB-45ED-AD9B-D529FC13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96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Operare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E8040-2F58-46A5-836E-DD72B4FF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00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C201D"/>
                </a:solidFill>
              </a:defRPr>
            </a:pPr>
            <a:r>
              <a:rPr sz="1275" b="0" i="0">
                <a:solidFill>
                  <a:srgbClr val="0C201D"/>
                </a:solidFill>
              </a:rPr>
              <a:t>Hash-uri SHA-256, manifeste, rezultate brute, cost-report și rulări reluabile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2A3C4-8968-4F88-B544-33174940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43100"/>
            <a:ext cx="1123950" cy="339090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solidFill>
              <a:srgbClr val="DDF6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C4789-9DE3-49AC-B264-F29C325D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24100"/>
            <a:ext cx="85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87C77"/>
                </a:solidFill>
              </a:defRPr>
            </a:pPr>
            <a:r>
              <a:rPr sz="1050" b="1" i="0">
                <a:solidFill>
                  <a:srgbClr val="087C77"/>
                </a:solidFill>
              </a:rPr>
              <a:t>EDITABIL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 i="0">
                <a:solidFill>
                  <a:srgbClr val="087C77"/>
                </a:solidFill>
              </a:defRPr>
            </a:pPr>
            <a:r>
              <a:rPr sz="1050" b="1" i="0">
                <a:solidFill>
                  <a:srgbClr val="087C77"/>
                </a:solidFill>
              </a:rPr>
              <a:t>AUDITABIL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1" i="0">
                <a:solidFill>
                  <a:srgbClr val="087C77"/>
                </a:solidFill>
              </a:defRPr>
            </a:pPr>
            <a:r>
              <a:rPr sz="1050" b="1" i="0">
                <a:solidFill>
                  <a:srgbClr val="087C77"/>
                </a:solidFill>
              </a:rPr>
              <a:t>EXTENSIBIL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8B4F9-AFF8-4F45-9CF1-48DD8536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86754-548B-43C3-9029-7616A4A4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0935B5-06E3-4519-B43F-6278001A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2001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35D88-B015-4A7E-8ABD-862798C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FIABILITATE &amp; SECURITATE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CB936-12F9-4241-9037-FA55DC0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07 /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8EEA0-F68D-4924-B28E-C4921CC1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AI-ul este încadrat de controale locale și urme de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580D8-D967-4F9C-84FE-2158CFBC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Controlul nu elimină riscul, dar îl face detectabil și gestionabil.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43A2B-C535-4003-B3A6-60F3B756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52800" cy="34099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EEEA6-B66A-48FF-8E54-1EBFAE78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3528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5CBE7-BC5D-4021-9F4D-8651284A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C201D"/>
                </a:solidFill>
              </a:defRPr>
            </a:pPr>
            <a:r>
              <a:rPr sz="1725" b="1" i="0">
                <a:solidFill>
                  <a:srgbClr val="0C201D"/>
                </a:solidFill>
              </a:rPr>
              <a:t>Corectitudine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60A45-371B-4954-BEA4-5CBB127B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A7A0"/>
                </a:solidFill>
              </a:defRPr>
            </a:pPr>
            <a:r>
              <a:rPr sz="1200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BF127-D89C-4FDE-932D-DC3DC71D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JSON și scheme validate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4664E-765C-4BC3-A352-BD99F581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A7A0"/>
                </a:solidFill>
              </a:defRPr>
            </a:pPr>
            <a:r>
              <a:rPr sz="1200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D245E-7D2A-4AB2-AFF8-CED5CA85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Reguli stricte pentru eseul-model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5B332-455C-42F2-9CD8-5C82D15E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A7A0"/>
                </a:solidFill>
              </a:defRPr>
            </a:pPr>
            <a:r>
              <a:rPr sz="1200" b="1" i="0">
                <a:solidFill>
                  <a:srgbClr val="0FA7A0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C6076-6EEE-4C51-82F5-3C570F5B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Fragmente și secvențe verificate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6D5FE-D381-4DE3-A8A7-98895678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3352800" cy="34099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010A6-8A89-45C6-912D-82971A0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33528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83D5"/>
          </a:solidFill>
          <a:ln xmlns:a="http://schemas.openxmlformats.org/drawingml/2006/main" w="0">
            <a:solidFill>
              <a:srgbClr val="4B8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68D1E-D655-4D4E-84D6-56B7EA65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C201D"/>
                </a:solidFill>
              </a:defRPr>
            </a:pPr>
            <a:r>
              <a:rPr sz="1725" b="1" i="0">
                <a:solidFill>
                  <a:srgbClr val="0C201D"/>
                </a:solidFill>
              </a:rPr>
              <a:t>Reproductibilitate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99C9A-08BF-4F0B-85CA-C72BD0BA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0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83D5"/>
                </a:solidFill>
              </a:defRPr>
            </a:pPr>
            <a:r>
              <a:rPr sz="1200" b="1" i="0">
                <a:solidFill>
                  <a:srgbClr val="4B83D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2B662-6A69-4795-9023-BF8E3C1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Prompturi și intrări hash-uite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6BD02-F3E9-4C65-8BAA-9F075E5B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86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83D5"/>
                </a:solidFill>
              </a:defRPr>
            </a:pPr>
            <a:r>
              <a:rPr sz="1200" b="1" i="0">
                <a:solidFill>
                  <a:srgbClr val="4B83D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15C35-6651-4059-894A-2306BCEC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957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Rezultate brute păstrate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1C870-738C-4A91-946C-2226B41C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71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83D5"/>
                </a:solidFill>
              </a:defRPr>
            </a:pPr>
            <a:r>
              <a:rPr sz="1200" b="1" i="0">
                <a:solidFill>
                  <a:srgbClr val="4B83D5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9644D-F5A1-454F-A01B-B941C81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815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Rulări reluabile și reutilizare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64A34-E328-4E1C-8C7D-21A77239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352800" cy="34099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B2247-BAF3-42DC-917A-9213969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3528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6B58"/>
          </a:solidFill>
          <a:ln xmlns:a="http://schemas.openxmlformats.org/drawingml/2006/main" w="0">
            <a:solidFill>
              <a:srgbClr val="EC6B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E7B0C-997E-485D-AFD3-A3AE83F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C201D"/>
                </a:solidFill>
              </a:defRPr>
            </a:pPr>
            <a:r>
              <a:rPr sz="1725" b="1" i="0">
                <a:solidFill>
                  <a:srgbClr val="0C201D"/>
                </a:solidFill>
              </a:rPr>
              <a:t>Date &amp; acces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A04B7-A60F-4783-B3CE-9853CDCE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C6B58"/>
                </a:solidFill>
              </a:defRPr>
            </a:pPr>
            <a:r>
              <a:rPr sz="1200" b="1" i="0">
                <a:solidFill>
                  <a:srgbClr val="EC6B58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9DC39-66D3-4BE4-894A-CE718260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SQLite cu separare per utilizator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B3034-0708-4D88-9D2B-B130FB28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86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C6B58"/>
                </a:solidFill>
              </a:defRPr>
            </a:pPr>
            <a:r>
              <a:rPr sz="1200" b="1" i="0">
                <a:solidFill>
                  <a:srgbClr val="EC6B58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E96F1-0FEB-4D3F-BB59-DFDD483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PBKDF2-SHA256 pentru parole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E6E37-9FE6-4266-80D8-193D89CD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C6B58"/>
                </a:solidFill>
              </a:defRPr>
            </a:pPr>
            <a:r>
              <a:rPr sz="1200" b="1" i="0">
                <a:solidFill>
                  <a:srgbClr val="EC6B58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D3A0E-3866-4F2E-80A6-C39A1599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Token semnat, expirare la 24 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6850B0-D8A8-4B4E-916F-01054367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0645F"/>
                </a:solidFill>
              </a:defRPr>
            </a:pPr>
            <a:r>
              <a:rPr sz="1125" b="0" i="0">
                <a:solidFill>
                  <a:srgbClr val="50645F"/>
                </a:solidFill>
              </a:rPr>
              <a:t>Configurația OpenRouter cere respectarea parametrilor, permite fallback și setează data_collection = deny.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26FC0-8117-4F41-9B1D-7E6B3FF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ABA8FB-E6FB-46DC-9E3A-1885EB50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01D3D2-3569-4F6F-8518-61EB811E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3754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63BCF-E6CA-47B8-94E4-1E8996A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PROGRAMUL DE CERCETARE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24D9B-BECE-418E-8A20-AD9DDF18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08 / EVALUARE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424C1-E3B8-49AB-A9C8-EC79D1E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Cercetarea reduce riscul de model și de evaluare superficială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82AAD-70BC-4DD6-A40A-973CEDFF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Trei experimente construiesc progresiv un cadru pentru calitate factuală, semantică și pedagogică.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38EF9-756B-4591-AA31-E85A9BC9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766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C0A5E-2413-4BC7-818B-1343229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D8514-277E-449A-A52A-32A516C7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2BA1B-D692-49A0-A3FB-1CCF2A70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01D"/>
                </a:solidFill>
              </a:defRPr>
            </a:pPr>
            <a:r>
              <a:rPr sz="1575" b="1" i="0">
                <a:solidFill>
                  <a:srgbClr val="0C201D"/>
                </a:solidFill>
              </a:rPr>
              <a:t>Baseline controlat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5BE74-FF53-4B25-BCE5-6BB05DD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Prompt, graf și evaluator fixe. Sunt salvate răspunsurile brute, scorurile, metadatele și validitatea JSON.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B9492-8132-4225-AEE8-5AD71148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384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C77"/>
                </a:solidFill>
              </a:defRPr>
            </a:pPr>
            <a:r>
              <a:rPr sz="285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21B65-1B58-4EF2-9F06-E7ECCE1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766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D5E90-7CFF-40E0-8197-5A4C151D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B83D5"/>
          </a:solidFill>
          <a:ln xmlns:a="http://schemas.openxmlformats.org/drawingml/2006/main" w="0">
            <a:solidFill>
              <a:srgbClr val="4B8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D881A-E8D5-445F-BF6A-1BCC8C67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71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6FABA-823E-4B04-8DE8-D3250FA9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01D"/>
                </a:solidFill>
              </a:defRPr>
            </a:pPr>
            <a:r>
              <a:rPr sz="1575" b="1" i="0">
                <a:solidFill>
                  <a:srgbClr val="0C201D"/>
                </a:solidFill>
              </a:rPr>
              <a:t>Semantică + stil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73B8A-637B-44DB-8A9A-3F1D33AC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Embeddings multilingve detectează duplicatele; profilul stilistic penalizează umplutura și repetițiile.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7D212-F423-4360-8739-DA643830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C77"/>
                </a:solidFill>
              </a:defRPr>
            </a:pPr>
            <a:r>
              <a:rPr sz="2850" b="1" i="0">
                <a:solidFill>
                  <a:srgbClr val="087C7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30CD5-DBCD-41D3-8E86-44DF888D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2766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3BFFF-857B-44A4-950B-EC12B8F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6B58"/>
          </a:solidFill>
          <a:ln xmlns:a="http://schemas.openxmlformats.org/drawingml/2006/main" w="0">
            <a:solidFill>
              <a:srgbClr val="EC6B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F328F-5064-47A2-B5E9-D2D81516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717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A1E3E-9798-4ECF-8BCC-0805785F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01D"/>
                </a:solidFill>
              </a:defRPr>
            </a:pPr>
            <a:r>
              <a:rPr sz="1575" b="1" i="0">
                <a:solidFill>
                  <a:srgbClr val="0C201D"/>
                </a:solidFill>
              </a:rPr>
              <a:t>RQUGE-Ro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13960-75CB-4E3F-8CE8-5BC96E9E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Prototip de evaluator antrenabil în limba română, bazat pe mT5, XLM-R și opțional LoRA.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09D0D-B905-4571-9768-699AE1BE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07D3F-A2B0-452A-927D-093DB54D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DEB62"/>
                </a:solidFill>
              </a:defRPr>
            </a:pPr>
            <a:r>
              <a:rPr sz="1050" b="1" i="0">
                <a:solidFill>
                  <a:srgbClr val="CDEB62"/>
                </a:solidFill>
              </a:rPr>
              <a:t>Stadiu actual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CA7C8-BD56-47CF-89F4-B91FBD0E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9650"/>
            <a:ext cx="842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Experimentele 1–2 au rezultate înregistrate. Experimentul 3 este infrastructură de cercetare și nu contribuie încă la scorul oficial.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81580-F20E-4779-A7ED-761FDD45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7210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FE0DC"/>
                </a:solidFill>
              </a:defRPr>
            </a:pPr>
            <a:r>
              <a:rPr sz="1050" b="0" i="0">
                <a:solidFill>
                  <a:srgbClr val="CFE0DC"/>
                </a:solidFill>
              </a:rPr>
              <a:t>Pragurile semantice sunt provizorii și trebuie calibrate pe perechi etichetate de evaluatori BAC.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EC2A9-7A6E-420E-930E-C2BC169F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4F3EB-5A90-45CD-ADB9-208E5048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F938F-7275-4069-BBB5-F927B2BC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2221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3964B-8AAD-4024-B52E-8D6BFA59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REZULTATE DE CERCETARE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E4B50-40EE-4714-A77D-C56E7E7E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09 /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6606F-4360-45E6-8CA4-277C5AC2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Progres tehnic, dar nu încă impact demonstrat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06310-C4DE-46A6-BD52-B370A14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Scorurile sunt utile pentru selecția inginerească; comparația nu este un studiu pedagogic final.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40718-D581-476C-AF0B-7CDECEB5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7437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9543C-856C-443F-B959-FC31123B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C201D"/>
                </a:solidFill>
              </a:defRPr>
            </a:pPr>
            <a:r>
              <a:rPr sz="1350" b="1" i="0">
                <a:solidFill>
                  <a:srgbClr val="0C201D"/>
                </a:solidFill>
              </a:rPr>
              <a:t>Cel mai bun scor valid / experiment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38200" y="2724150"/>
          <a:ext xmlns:a="http://schemas.openxmlformats.org/drawingml/2006/main" cx="6057900" cy="2171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1a5de0dbc342b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94749-0A78-4600-8E14-ABD3B10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38350"/>
            <a:ext cx="392430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84E0F-E7AF-4950-8B3E-A7BEB3A5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DEB62"/>
                </a:solidFill>
              </a:defRPr>
            </a:pPr>
            <a:r>
              <a:rPr sz="2550" b="1" i="0">
                <a:solidFill>
                  <a:srgbClr val="CDEB62"/>
                </a:solidFill>
              </a:rPr>
              <a:t>4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93C41-8AA0-4011-9FC0-1D1D74E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rulări complet valide în Experimentul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F7765-D55D-4969-B627-E48CDA44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9243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solidFill>
              <a:srgbClr val="DDF6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021F9-DBFD-444C-B351-FD4AC5D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243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87C77"/>
                </a:solidFill>
              </a:defRPr>
            </a:pPr>
            <a:r>
              <a:rPr sz="2550" b="1" i="0">
                <a:solidFill>
                  <a:srgbClr val="087C77"/>
                </a:solidFill>
              </a:rPr>
              <a:t>5 /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3DEA1-9A6E-49A6-ADC8-D824C1B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C201D"/>
                </a:solidFill>
              </a:defRPr>
            </a:pPr>
            <a:r>
              <a:rPr sz="1200" b="0" i="0">
                <a:solidFill>
                  <a:srgbClr val="0C201D"/>
                </a:solidFill>
              </a:rPr>
              <a:t>rulări complet valide în Experimentul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8F379-B9FF-464C-B04E-1EC3195E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911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7C77"/>
                </a:solidFill>
              </a:defRPr>
            </a:pPr>
            <a:r>
              <a:rPr sz="975" b="1" i="0">
                <a:solidFill>
                  <a:srgbClr val="087C77"/>
                </a:solidFill>
              </a:rPr>
              <a:t>+1,21 puncte între cele mai bune rulări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E3446-7FC9-4E5B-B760-A090C33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solidFill>
              <a:srgbClr val="DDF6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23FDC-25E5-40B9-85FC-78D0132D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01D"/>
                </a:solidFill>
              </a:defRPr>
            </a:pPr>
            <a:r>
              <a:rPr sz="975" b="0" i="0">
                <a:solidFill>
                  <a:srgbClr val="0C201D"/>
                </a:solidFill>
              </a:rPr>
              <a:t>Notă: modelele, providerii și numărul de rulări diferă; rezultatul este orientativ, nu o concluzie cauzală.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CC0FB-B13E-407D-BF5B-DE579C3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5D2E9-32A8-4FEA-9086-0007348B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396E0-F88C-44EE-9F17-FEF105B4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1759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90906-A257-43DE-A602-0628B252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COSTURI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EB60-1A4D-4712-A9E7-1998DBA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10 / ECONOMIE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AF925-F89F-4632-B065-261BF71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Generarea offline este ieftină; costul real este dat de operare și calitate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C9C44-92CF-4D6C-B545-BB28AAF0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Rapoartele OpenRouter din proiect măsoară consumul modelului pentru două opere 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0DE1A-C224-4EA9-9480-58DC2A60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4C3BA-E0E8-4994-A8BE-69849C3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01D"/>
                </a:solidFill>
              </a:defRPr>
            </a:pPr>
            <a:r>
              <a:rPr sz="1425" b="1" i="0">
                <a:solidFill>
                  <a:srgbClr val="0C201D"/>
                </a:solidFill>
              </a:rPr>
              <a:t>Cost AI măsurat / operă (cenți USD)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819150" y="2705100"/>
          <a:ext xmlns:a="http://schemas.openxmlformats.org/drawingml/2006/main" cx="6000750" cy="1962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aaefa1f52546bb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5A416-9CE2-46A8-B243-6E496E5E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0645F"/>
                </a:solidFill>
              </a:defRPr>
            </a:pPr>
            <a:r>
              <a:rPr sz="900" b="0" i="0">
                <a:solidFill>
                  <a:srgbClr val="50645F"/>
                </a:solidFill>
              </a:rPr>
              <a:t>Sursa costului: usage.cost returnat de OpenRouter pentru fiecare apel.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EB209-A3AD-4B6D-A5FF-2B7385E9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9624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71622-6AFA-4247-B62A-3B5C3648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28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CDEB62"/>
                </a:solidFill>
              </a:defRPr>
            </a:pPr>
            <a:r>
              <a:rPr sz="2550" b="1" i="0">
                <a:solidFill>
                  <a:srgbClr val="CDEB62"/>
                </a:solidFill>
              </a:rPr>
              <a:t>$0,095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B2577-3C32-4960-BE42-F03F2DB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media observată / operă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F506C-2C31-45FE-9927-89C7828C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67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FE0DC"/>
                </a:solidFill>
              </a:defRPr>
            </a:pPr>
            <a:r>
              <a:rPr sz="975" b="0" i="0">
                <a:solidFill>
                  <a:srgbClr val="CFE0DC"/>
                </a:solidFill>
              </a:rPr>
              <a:t>≈ $9,49 pentru 100 opere similare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568E9-E189-47B3-BE55-1CD8538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39624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DF6F2"/>
          </a:solidFill>
          <a:ln xmlns:a="http://schemas.openxmlformats.org/drawingml/2006/main" w="0">
            <a:solidFill>
              <a:srgbClr val="DDF6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8CAA3-4D5A-41BF-88EF-E2546E2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29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7C77"/>
                </a:solidFill>
              </a:defRPr>
            </a:pPr>
            <a:r>
              <a:rPr sz="1425" b="1" i="0">
                <a:solidFill>
                  <a:srgbClr val="087C77"/>
                </a:solidFill>
              </a:rPr>
              <a:t>Ce NU este inclus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BF34E-5267-406B-A3D5-761BE514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4815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C201D"/>
                </a:solidFill>
              </a:defRPr>
            </a:pPr>
            <a:r>
              <a:rPr sz="1125" b="0" i="0">
                <a:solidFill>
                  <a:srgbClr val="0C201D"/>
                </a:solidFill>
              </a:rPr>
              <a:t>Hosting • dezvoltare • QA profesori • suport • monitorizare • conversații live ale elevilor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BBADF-2DFC-469D-A9B6-9F1DF07C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C05D0-C1FE-43C5-B53B-E8622B4B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C201D"/>
                </a:solidFill>
              </a:defRPr>
            </a:pPr>
            <a:r>
              <a:rPr sz="1050" b="1" i="0">
                <a:solidFill>
                  <a:srgbClr val="0C201D"/>
                </a:solidFill>
              </a:rPr>
              <a:t>Distribuție tipică observată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7D8F2-BA01-4F04-BFD1-3AE7A76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19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C77"/>
                </a:solidFill>
              </a:defRPr>
            </a:pPr>
            <a:r>
              <a:rPr sz="1050" b="1" i="0">
                <a:solidFill>
                  <a:srgbClr val="087C77"/>
                </a:solidFill>
              </a:rPr>
              <a:t>Înțelegere ≈ 42%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1ABBC-DC2D-4011-9AD6-C863996C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19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83D5"/>
                </a:solidFill>
              </a:defRPr>
            </a:pPr>
            <a:r>
              <a:rPr sz="1050" b="1" i="0">
                <a:solidFill>
                  <a:srgbClr val="4B83D5"/>
                </a:solidFill>
              </a:rPr>
              <a:t>Testare ≈ 46%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139BB-5AF1-4E26-8457-7ACDF6D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19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C6B58"/>
                </a:solidFill>
              </a:defRPr>
            </a:pPr>
            <a:r>
              <a:rPr sz="1050" b="1" i="0">
                <a:solidFill>
                  <a:srgbClr val="EC6B58"/>
                </a:solidFill>
              </a:rPr>
              <a:t>Eseu ≈ 12%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E2CD5-A51E-4239-A3D7-6B01E97E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626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0645F"/>
                </a:solidFill>
              </a:defRPr>
            </a:pPr>
            <a:r>
              <a:rPr sz="900" b="0" i="0">
                <a:solidFill>
                  <a:srgbClr val="50645F"/>
                </a:solidFill>
              </a:rPr>
              <a:t>Cost live = tokeni intrare × tarif + tokeni ieșire × tarif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53F8E-A311-45A1-A8C1-E745FDAD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18EB1-D761-4F67-BE65-BB0DCF1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80086-1B2C-406B-B7BE-4C54FBC7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4985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CD660-B4DA-45E4-BBF5-4A5A28F5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VALOARE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B85F9-B356-464E-9608-96CF0B5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11 /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AF167-9BA0-40A5-AD3A-411DA04C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Implementarea creează valoare pentru elev, profesor și organizație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9D591-9C74-4271-91B0-7BF9BBC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Beneficiile sunt plauzibile și măsurabile într-un pilot; nu sunt încă prezentate ca impact demonstrat.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D05EA-5B8B-4404-869B-118BA94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53AFA-DC3A-4E85-8C52-3E405046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99105-0873-495D-9474-09B2DC07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Elev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6EE6-5267-4B33-A706-324EC605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62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01D"/>
                </a:solidFill>
              </a:defRPr>
            </a:pPr>
            <a:r>
              <a:rPr sz="1425" b="1" i="0">
                <a:solidFill>
                  <a:srgbClr val="0C201D"/>
                </a:solidFill>
              </a:rPr>
              <a:t>Mai puțină dezorientare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2DD5A-A910-4102-B8A8-326AE17E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Traseu ghidat, feedback imediat, progres vizibil și trecere naturală spre redactare.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EAE3F-4BBC-4F19-8AAB-13E45980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888BE-A076-43EC-913A-CC823E4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4B83D5"/>
          </a:solidFill>
          <a:ln xmlns:a="http://schemas.openxmlformats.org/drawingml/2006/main" w="0">
            <a:solidFill>
              <a:srgbClr val="4B8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0B398-AB44-460F-B97A-B607AE8A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Profesor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49971-D55E-433E-88A5-2835BDEE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33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01D"/>
                </a:solidFill>
              </a:defRPr>
            </a:pPr>
            <a:r>
              <a:rPr sz="1425" b="1" i="0">
                <a:solidFill>
                  <a:srgbClr val="0C201D"/>
                </a:solidFill>
              </a:rPr>
              <a:t>Conținut reutilizabil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F483E-662B-4296-A94B-4E0B9AA3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146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Eseul-model și selecția secvențelor devin reguli editoriale aplicate consecvent.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9678C-D230-46BD-8664-E224A13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EF5E3-F29A-4AC0-8801-EB775876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C6B58"/>
          </a:solidFill>
          <a:ln xmlns:a="http://schemas.openxmlformats.org/drawingml/2006/main" w="0">
            <a:solidFill>
              <a:srgbClr val="EC6B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9B478-04B3-4144-921B-7ABA70D8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1A90E-68FB-484A-B0E5-57AF59B4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05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01D"/>
                </a:solidFill>
              </a:defRPr>
            </a:pPr>
            <a:r>
              <a:rPr sz="1425" b="1" i="0">
                <a:solidFill>
                  <a:srgbClr val="0C201D"/>
                </a:solidFill>
              </a:rPr>
              <a:t>Cost marginal redus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3660B-A134-4F64-B093-E3FED9F1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862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O bază factuală produce mai multe formate și poate fi extinsă la noi opere.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78688-5E80-4CCE-99DB-0595B39B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84B7A-DA5E-4C37-B3E6-D22182D4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14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A83A"/>
          </a:solidFill>
          <a:ln xmlns:a="http://schemas.openxmlformats.org/drawingml/2006/main" w="0">
            <a:solidFill>
              <a:srgbClr val="F4A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C2F4E-CD2F-43BD-872D-D34CE5A6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Produs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84C33-46F5-4964-AE59-CB99DC0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76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01D"/>
                </a:solidFill>
              </a:defRPr>
            </a:pPr>
            <a:r>
              <a:rPr sz="1425" b="1" i="0">
                <a:solidFill>
                  <a:srgbClr val="0C201D"/>
                </a:solidFill>
              </a:rPr>
              <a:t>Încredere și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3ADFA-6D43-4469-905A-1408F867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577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Dovezile, hash-urile și rezultatele brute fac erorile investigabile.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097A4-9640-498F-8BFF-8949557C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B5F15-96EE-4FEE-BC28-B8C7F1BB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048D7-8E36-41FD-9A7A-9B484FA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573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DCBC2C-E857-4586-B056-EAF0491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C77"/>
                </a:solidFill>
              </a:defRPr>
            </a:pPr>
            <a:r>
              <a:rPr sz="900" b="1" i="0">
                <a:solidFill>
                  <a:srgbClr val="087C77"/>
                </a:solidFill>
              </a:rPr>
              <a:t>RISCURI &amp; CONTROALE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C21C6-E04B-4541-ADE4-2607CDC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385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12 / GUVERNANȚĂ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7C0D2-AD8B-4C52-BB99-9E15858A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1D"/>
                </a:solidFill>
              </a:defRPr>
            </a:pPr>
            <a:r>
              <a:rPr sz="2850" b="1" i="0">
                <a:solidFill>
                  <a:srgbClr val="0C201D"/>
                </a:solidFill>
              </a:rPr>
              <a:t>Riscurile sunt gestionabile dacă pilotul păstrează omul în buclă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4B25A-60B6-4B37-9262-AA56FAA1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0645F"/>
                </a:solidFill>
              </a:defRPr>
            </a:pPr>
            <a:r>
              <a:rPr sz="1275" b="0" i="0">
                <a:solidFill>
                  <a:srgbClr val="50645F"/>
                </a:solidFill>
              </a:rPr>
              <a:t>Prioritatea nu este doar viteza de generare, ci corectitudinea și încrederea didactică.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4E40C-AE64-46BB-8065-00DF4F0C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RISC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A2172-30D7-4382-9AC9-C247E760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24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0645F"/>
                </a:solidFill>
              </a:defRPr>
            </a:pPr>
            <a:r>
              <a:rPr sz="900" b="1" i="0">
                <a:solidFill>
                  <a:srgbClr val="50645F"/>
                </a:solidFill>
              </a:rPr>
              <a:t>CONTROL PROPUS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322FD-DA53-4A38-BA32-C28B8F7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DEB5F-22B8-4692-925E-1A4A1CAC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14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6B58"/>
          </a:solidFill>
          <a:ln xmlns:a="http://schemas.openxmlformats.org/drawingml/2006/main" w="0">
            <a:solidFill>
              <a:srgbClr val="EC6B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D0D3D-257D-47D8-BFCB-4A6E50EE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98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C201D"/>
                </a:solidFill>
              </a:defRPr>
            </a:pPr>
            <a:r>
              <a:rPr sz="1275" b="1" i="0">
                <a:solidFill>
                  <a:srgbClr val="0C201D"/>
                </a:solidFill>
              </a:rPr>
              <a:t>Eroare factuală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157E8-8393-45A0-B0F9-1A732D9C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90775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Knowledge graph, evidențe, validatoare și QA de profesor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DFA31-8EB1-4EC4-9261-8605FB8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C2FCC-DBB1-479B-92BB-83D4DDFD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14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83A"/>
          </a:solidFill>
          <a:ln xmlns:a="http://schemas.openxmlformats.org/drawingml/2006/main" w="0">
            <a:solidFill>
              <a:srgbClr val="F4A8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875C6-6607-45F3-A7EF-7F89EEF3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C201D"/>
                </a:solidFill>
              </a:defRPr>
            </a:pPr>
            <a:r>
              <a:rPr sz="1275" b="1" i="0">
                <a:solidFill>
                  <a:srgbClr val="0C201D"/>
                </a:solidFill>
              </a:rPr>
              <a:t>Instabilitate provider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C080F-D264-494E-A312-E86119DB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14675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Fallback controlat, timeout, reluare și rezultate salvate incremental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CA5EB-0438-44A3-AB54-95F53C7C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F4432-21DA-40CC-9C25-B5B6AA64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14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A7A0"/>
          </a:solidFill>
          <a:ln xmlns:a="http://schemas.openxmlformats.org/drawingml/2006/main" w="0">
            <a:solidFill>
              <a:srgbClr val="0FA7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B3DDE-F129-44A9-A979-F693351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C201D"/>
                </a:solidFill>
              </a:defRPr>
            </a:pPr>
            <a:r>
              <a:rPr sz="1275" b="1" i="0">
                <a:solidFill>
                  <a:srgbClr val="0C201D"/>
                </a:solidFill>
              </a:rPr>
              <a:t>Cost necontrolat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672EE-04DD-4DCA-B299-43124C91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38575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Telemetrie token/cost, limite de răspuns și bugete per flux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20E7C-D1F3-46CC-9754-CCB0A46E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59965-2D8C-4EBB-9E35-C7289B0A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14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B83D5"/>
          </a:solidFill>
          <a:ln xmlns:a="http://schemas.openxmlformats.org/drawingml/2006/main" w="0">
            <a:solidFill>
              <a:srgbClr val="4B8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B2A21-8DCF-44EA-AE54-EA726026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815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C201D"/>
                </a:solidFill>
              </a:defRPr>
            </a:pPr>
            <a:r>
              <a:rPr sz="1275" b="1" i="0">
                <a:solidFill>
                  <a:srgbClr val="0C201D"/>
                </a:solidFill>
              </a:rPr>
              <a:t>Evaluare necalibrată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64F04-5D08-4742-8B01-BFB2B081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62475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Set etichetat de profesori; praguri semantice validate înainte de producție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273BBB-30B9-487A-B92C-D607191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F5F3"/>
          </a:solidFill>
          <a:ln xmlns:a="http://schemas.openxmlformats.org/drawingml/2006/main" w="9525">
            <a:solidFill>
              <a:srgbClr val="CFE0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56C23-156F-4BC6-AA78-44E3394F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14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01D"/>
          </a:solidFill>
          <a:ln xmlns:a="http://schemas.openxmlformats.org/drawingml/2006/main" w="0">
            <a:solidFill>
              <a:srgbClr val="0C20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4D156-6FFB-406B-9718-86C98F87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05425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C201D"/>
                </a:solidFill>
              </a:defRPr>
            </a:pPr>
            <a:r>
              <a:rPr sz="1275" b="1" i="0">
                <a:solidFill>
                  <a:srgbClr val="0C201D"/>
                </a:solidFill>
              </a:rPr>
              <a:t>Date și secrete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56D62-CA22-43E6-8B3B-56F7825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86375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0645F"/>
                </a:solidFill>
              </a:defRPr>
            </a:pPr>
            <a:r>
              <a:rPr sz="1200" b="0" i="0">
                <a:solidFill>
                  <a:srgbClr val="50645F"/>
                </a:solidFill>
              </a:rPr>
              <a:t>Secret management, HTTPS, backup DB, politici de retenție și acces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E3BDF-31B9-4EED-AD11-BF6251C3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DC"/>
          </a:solidFill>
          <a:ln xmlns:a="http://schemas.openxmlformats.org/drawingml/2006/main" w="0">
            <a:solidFill>
              <a:srgbClr val="CFE0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9502F-9579-4FDD-A97B-930A621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BACADO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46400-39FC-448A-8642-FB88F48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0645F"/>
                </a:solidFill>
              </a:defRPr>
            </a:pPr>
            <a:r>
              <a:rPr sz="750" b="1" i="0">
                <a:solidFill>
                  <a:srgbClr val="50645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61117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C2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BBCC7-85A7-4439-9E7C-0D03BD5F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DEB62"/>
                </a:solidFill>
              </a:defRPr>
            </a:pPr>
            <a:r>
              <a:rPr sz="900" b="1" i="0">
                <a:solidFill>
                  <a:srgbClr val="CDEB62"/>
                </a:solidFill>
              </a:rPr>
              <a:t>PROPUNERE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57873-A147-4F13-9769-AC4691DF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Un pilot controlat poate transforma</a:t>
            </a:r>
          </a:p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prototipul într-o decizie de investiție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7F414-9E5F-44E9-B907-E7895B74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FE0DC"/>
                </a:solidFill>
              </a:defRPr>
            </a:pPr>
            <a:r>
              <a:rPr sz="1350" b="0" i="0">
                <a:solidFill>
                  <a:srgbClr val="CFE0DC"/>
                </a:solidFill>
              </a:rPr>
              <a:t>12 săptămâni • 3 etape • criterii de succes măsurabile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ED68B-A523-4220-97F6-88F40F2D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57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53630"/>
          </a:solidFill>
          <a:ln xmlns:a="http://schemas.openxmlformats.org/drawingml/2006/main" w="9525">
            <a:solidFill>
              <a:srgbClr val="3554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82788-74C4-4A32-B9D0-807240CA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A7A0"/>
                </a:solidFill>
              </a:defRPr>
            </a:pPr>
            <a:r>
              <a:rPr sz="1125" b="1" i="0">
                <a:solidFill>
                  <a:srgbClr val="0FA7A0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2349-D73F-4C35-A932-1BBCC322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Validare didactică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B93C6-C35D-41DB-9946-C9A52DCC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FE0DC"/>
                </a:solidFill>
              </a:defRPr>
            </a:pPr>
            <a:r>
              <a:rPr sz="1200" b="0" i="0">
                <a:solidFill>
                  <a:srgbClr val="CFE0DC"/>
                </a:solidFill>
              </a:rPr>
              <a:t>Profesori evaluează factualitatea, rubricile și calitatea feedbackului.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B6D9C-847C-41A1-A08D-8C462BE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3257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53630"/>
          </a:solidFill>
          <a:ln xmlns:a="http://schemas.openxmlformats.org/drawingml/2006/main" w="9525">
            <a:solidFill>
              <a:srgbClr val="3554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63414-986E-454D-A6E3-D0DBEEBC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B83D5"/>
                </a:solidFill>
              </a:defRPr>
            </a:pPr>
            <a:r>
              <a:rPr sz="1125" b="1" i="0">
                <a:solidFill>
                  <a:srgbClr val="4B83D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68414-A744-4A0F-A53C-C7F626B7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671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Pilot cu elevi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AFC90-51E0-4E45-849E-AA779A1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FE0DC"/>
                </a:solidFill>
              </a:defRPr>
            </a:pPr>
            <a:r>
              <a:rPr sz="1200" b="0" i="0">
                <a:solidFill>
                  <a:srgbClr val="CFE0DC"/>
                </a:solidFill>
              </a:rPr>
              <a:t>Măsurăm activare, finalizare, revenire, timp/eseu și cost/elev.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0F094-77BB-4417-B75E-2520B363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32575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153630"/>
          </a:solidFill>
          <a:ln xmlns:a="http://schemas.openxmlformats.org/drawingml/2006/main" w="9525">
            <a:solidFill>
              <a:srgbClr val="3554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3FA47-D37A-4B5A-8EAD-A786B14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C6B58"/>
                </a:solidFill>
              </a:defRPr>
            </a:pPr>
            <a:r>
              <a:rPr sz="1125" b="1" i="0">
                <a:solidFill>
                  <a:srgbClr val="EC6B5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2D8E7-A10B-4276-90D1-62C91153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Decizie de scalare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54B82-757F-4B4F-AFD1-18C26583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FE0DC"/>
                </a:solidFill>
              </a:defRPr>
            </a:pPr>
            <a:r>
              <a:rPr sz="1200" b="0" i="0">
                <a:solidFill>
                  <a:srgbClr val="CFE0DC"/>
                </a:solidFill>
              </a:rPr>
              <a:t>Întărim securitatea, operarea și planul de conținut pe baza datelor.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7D748-2B4E-416A-9F1A-3B36CEA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06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CDEB62"/>
          </a:solidFill>
          <a:ln xmlns:a="http://schemas.openxmlformats.org/drawingml/2006/main" w="0">
            <a:solidFill>
              <a:srgbClr val="CDEB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54C40-A0A3-4BBC-923E-646EA147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201D"/>
                </a:solidFill>
              </a:defRPr>
            </a:pPr>
            <a:r>
              <a:rPr sz="975" b="1" i="0">
                <a:solidFill>
                  <a:srgbClr val="0C201D"/>
                </a:solidFill>
              </a:rPr>
              <a:t>Decizia cerută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DB5E0-5230-45D3-9588-9FF3FD19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201D"/>
                </a:solidFill>
              </a:defRPr>
            </a:pPr>
            <a:r>
              <a:rPr sz="1425" b="1" i="0">
                <a:solidFill>
                  <a:srgbClr val="0C201D"/>
                </a:solidFill>
              </a:rPr>
              <a:t>Aprobarea pilotului și desemnarea unui owner didactic + unui owner tehnic.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F5D08-C16A-4637-BBB1-D72FFE9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34671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fddbf2ed94a03"/>
          <a:stretch xmlns:a="http://schemas.openxmlformats.org/drawingml/2006/main"/>
        </p:blipFill>
        <p:spPr>
          <a:xfrm xmlns:a="http://schemas.openxmlformats.org/drawingml/2006/main">
            <a:off x="8305800" y="52959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5E4612-A934-4F97-ACE1-A588CD3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48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7C77"/>
                </a:solidFill>
              </a:defRPr>
            </a:pPr>
            <a:r>
              <a:rPr sz="1650" b="1" i="0">
                <a:solidFill>
                  <a:srgbClr val="087C77"/>
                </a:solidFill>
              </a:rPr>
              <a:t>BACADO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1FA8D-EA10-4414-9216-A82688F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772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0645F"/>
                </a:solidFill>
              </a:defRPr>
            </a:pPr>
            <a:r>
              <a:rPr sz="825" b="0" i="0">
                <a:solidFill>
                  <a:srgbClr val="50645F"/>
                </a:solidFill>
              </a:rPr>
              <a:t>Învață structurat. Scrie cu încredere.</a:t>
            </a:r>
          </a:p>
        </p:txBody>
      </p:sp>
    </p:spTree>
    <p:extLst>
      <p:ext uri="{BB962C8B-B14F-4D97-AF65-F5344CB8AC3E}">
        <p14:creationId xmlns:p14="http://schemas.microsoft.com/office/powerpoint/2010/main" val="17828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2026-08-23T11:34:53.4450000Z</dcterms:created>
  <dcterms:modified xsi:type="dcterms:W3CDTF">2026-08-23T11:34:53.4450000Z</dcterms:modified>
</coreProperties>
</file>